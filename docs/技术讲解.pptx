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0"/>
  </p:notesMasterIdLst>
  <p:sldIdLst>
    <p:sldId id="298" r:id="rId3"/>
    <p:sldId id="383" r:id="rId4"/>
    <p:sldId id="384" r:id="rId5"/>
    <p:sldId id="388" r:id="rId6"/>
    <p:sldId id="387" r:id="rId7"/>
    <p:sldId id="386" r:id="rId8"/>
    <p:sldId id="281" r:id="rId9"/>
    <p:sldId id="392" r:id="rId10"/>
    <p:sldId id="385" r:id="rId11"/>
    <p:sldId id="349" r:id="rId12"/>
    <p:sldId id="287" r:id="rId13"/>
    <p:sldId id="272" r:id="rId14"/>
    <p:sldId id="389" r:id="rId15"/>
    <p:sldId id="390" r:id="rId16"/>
    <p:sldId id="391" r:id="rId17"/>
    <p:sldId id="328" r:id="rId18"/>
    <p:sldId id="305" r:id="rId19"/>
  </p:sldIdLst>
  <p:sldSz cx="9144000" cy="5143500" type="screen16x9"/>
  <p:notesSz cx="6858000" cy="9144000"/>
  <p:custDataLst>
    <p:tags r:id="rId21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99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E2404-BD21-47A5-B8C9-3EED8A647C26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EFE29-1DF0-4653-B695-04195A2536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EFE29-1DF0-4653-B695-04195A2536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266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lIns="99075" tIns="49538" rIns="99075" bIns="49538"/>
          <a:lstStyle/>
          <a:p>
            <a:fld id="{166EFE29-1DF0-4653-B695-04195A2536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441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lIns="99075" tIns="49538" rIns="99075" bIns="49538"/>
          <a:lstStyle/>
          <a:p>
            <a:fld id="{166EFE29-1DF0-4653-B695-04195A2536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474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147A23-5BA8-44CE-9215-79B767159C4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237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EFE29-1DF0-4653-B695-04195A2536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842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147A23-5BA8-44CE-9215-79B767159C4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9573C-4563-40E3-94F9-55383A434B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758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9573C-4563-40E3-94F9-55383A434B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197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53E92-7E22-41E5-9786-6311099FDA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081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9075" tIns="49538" rIns="99075" bIns="49538"/>
          <a:lstStyle/>
          <a:p>
            <a:fld id="{B29F7401-6E7D-4CE3-89B6-86741D8BF9B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446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EFE29-1DF0-4653-B695-04195A25367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EFE29-1DF0-4653-B695-04195A25367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EFE29-1DF0-4653-B695-04195A25367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344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EFE29-1DF0-4653-B695-04195A25367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324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EFE29-1DF0-4653-B695-04195A25367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802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9075" tIns="49538" rIns="99075" bIns="49538"/>
          <a:lstStyle/>
          <a:p>
            <a:fld id="{F1CB8912-F0BA-4AD8-8415-DA1F26BCB09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841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A6F4A-475A-498E-92E9-2F927764826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6C2CD-BAB8-49EF-A3DC-25B0D47B1A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4728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20758" y="1315497"/>
            <a:ext cx="2800281" cy="2798456"/>
          </a:xfrm>
          <a:custGeom>
            <a:avLst/>
            <a:gdLst>
              <a:gd name="connsiteX0" fmla="*/ 1866854 w 3733708"/>
              <a:gd name="connsiteY0" fmla="*/ 0 h 3731274"/>
              <a:gd name="connsiteX1" fmla="*/ 3733708 w 3733708"/>
              <a:gd name="connsiteY1" fmla="*/ 1865637 h 3731274"/>
              <a:gd name="connsiteX2" fmla="*/ 1866854 w 3733708"/>
              <a:gd name="connsiteY2" fmla="*/ 3731274 h 3731274"/>
              <a:gd name="connsiteX3" fmla="*/ 0 w 3733708"/>
              <a:gd name="connsiteY3" fmla="*/ 1865637 h 3731274"/>
              <a:gd name="connsiteX4" fmla="*/ 1866854 w 3733708"/>
              <a:gd name="connsiteY4" fmla="*/ 0 h 3731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3708" h="3731274">
                <a:moveTo>
                  <a:pt x="1866854" y="0"/>
                </a:moveTo>
                <a:cubicBezTo>
                  <a:pt x="2897889" y="0"/>
                  <a:pt x="3733708" y="835274"/>
                  <a:pt x="3733708" y="1865637"/>
                </a:cubicBezTo>
                <a:cubicBezTo>
                  <a:pt x="3733708" y="2896000"/>
                  <a:pt x="2897889" y="3731274"/>
                  <a:pt x="1866854" y="3731274"/>
                </a:cubicBezTo>
                <a:cubicBezTo>
                  <a:pt x="835819" y="3731274"/>
                  <a:pt x="0" y="2896000"/>
                  <a:pt x="0" y="1865637"/>
                </a:cubicBezTo>
                <a:cubicBezTo>
                  <a:pt x="0" y="835274"/>
                  <a:pt x="835819" y="0"/>
                  <a:pt x="186685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C74C5-49C3-4B91-9805-E5C47E5A7A90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582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  <p:sldLayoutId id="2147483674" r:id="rId13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40423-F8B4-4584-ABB2-CA663E9A1F1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4F44E-4BFA-425D-A078-B5E74AE712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e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24.jpg"/><Relationship Id="rId4" Type="http://schemas.openxmlformats.org/officeDocument/2006/relationships/image" Target="../media/image4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5" Type="http://schemas.openxmlformats.org/officeDocument/2006/relationships/image" Target="../media/image26.jpg"/><Relationship Id="rId4" Type="http://schemas.openxmlformats.org/officeDocument/2006/relationships/image" Target="../media/image4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2  _1"/>
          <p:cNvSpPr>
            <a:spLocks noChangeArrowheads="1"/>
          </p:cNvSpPr>
          <p:nvPr/>
        </p:nvSpPr>
        <p:spPr bwMode="auto">
          <a:xfrm>
            <a:off x="71466" y="1116227"/>
            <a:ext cx="8077200" cy="3330993"/>
          </a:xfrm>
          <a:prstGeom prst="roundRect">
            <a:avLst>
              <a:gd name="adj" fmla="val 8963"/>
            </a:avLst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>
            <a:outerShdw blurRad="165100" dist="38100" dir="8100000" algn="tr" rotWithShape="0">
              <a:prstClr val="black">
                <a:alpha val="22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rtlCol="0" anchor="ctr"/>
          <a:lstStyle/>
          <a:p>
            <a:pPr algn="ctr">
              <a:defRPr/>
            </a:pPr>
            <a:endParaRPr lang="zh-CN" altLang="zh-CN" sz="1350" kern="0">
              <a:solidFill>
                <a:prstClr val="white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10050" y="516349"/>
            <a:ext cx="4048125" cy="440807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文本框 6"/>
          <p:cNvSpPr txBox="1"/>
          <p:nvPr/>
        </p:nvSpPr>
        <p:spPr>
          <a:xfrm>
            <a:off x="114856" y="1571607"/>
            <a:ext cx="402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技术介绍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9500" y="2237845"/>
            <a:ext cx="3603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BVM-120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型方底阀口制袋机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79722" y="2803067"/>
            <a:ext cx="3723316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" y="66009"/>
            <a:ext cx="4210050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zh-CN" altLang="en-US" sz="2400" b="1" dirty="0">
                <a:solidFill>
                  <a:srgbClr val="7030A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青岛利国兴精密机械有限公司</a:t>
            </a:r>
          </a:p>
        </p:txBody>
      </p:sp>
      <p:sp>
        <p:nvSpPr>
          <p:cNvPr id="20" name="矩形 19"/>
          <p:cNvSpPr/>
          <p:nvPr/>
        </p:nvSpPr>
        <p:spPr>
          <a:xfrm>
            <a:off x="4858718" y="821410"/>
            <a:ext cx="3975316" cy="379708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Call Me Maybe - Carly Rae Jepsen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29933" y="4619022"/>
            <a:ext cx="487364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3000">
        <p14:doors dir="vert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2" decel="36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50"/>
                            </p:stCondLst>
                            <p:childTnLst>
                              <p:par>
                                <p:cTn id="2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1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53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6" grpId="0" animBg="1"/>
      <p:bldP spid="4" grpId="0" animBg="1"/>
      <p:bldP spid="7" grpId="0"/>
      <p:bldP spid="8" grpId="0"/>
      <p:bldP spid="12" grpId="0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09550" y="98806"/>
            <a:ext cx="8368882" cy="539369"/>
            <a:chOff x="279400" y="131741"/>
            <a:chExt cx="11158509" cy="719159"/>
          </a:xfrm>
        </p:grpSpPr>
        <p:grpSp>
          <p:nvGrpSpPr>
            <p:cNvPr id="6" name="组合 5"/>
            <p:cNvGrpSpPr/>
            <p:nvPr/>
          </p:nvGrpSpPr>
          <p:grpSpPr>
            <a:xfrm>
              <a:off x="279400" y="165100"/>
              <a:ext cx="241300" cy="685800"/>
              <a:chOff x="279400" y="165100"/>
              <a:chExt cx="241300" cy="68580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79400" y="165100"/>
                <a:ext cx="101600" cy="6858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19100" y="165100"/>
                <a:ext cx="101600" cy="330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</p:grpSp>
        <p:sp>
          <p:nvSpPr>
            <p:cNvPr id="7" name="TextBox 54"/>
            <p:cNvSpPr txBox="1"/>
            <p:nvPr/>
          </p:nvSpPr>
          <p:spPr>
            <a:xfrm>
              <a:off x="694367" y="131741"/>
              <a:ext cx="564177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2100" dirty="0"/>
                <a:t>传统包装袋（线缝</a:t>
              </a:r>
              <a:r>
                <a:rPr lang="en-US" altLang="zh-CN" sz="2100" dirty="0"/>
                <a:t>Sewn Type</a:t>
              </a:r>
              <a:r>
                <a:rPr lang="zh-CN" altLang="en-US" sz="2100" dirty="0"/>
                <a:t>）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758853" y="836712"/>
              <a:ext cx="1067905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Rectangle 18"/>
          <p:cNvSpPr/>
          <p:nvPr/>
        </p:nvSpPr>
        <p:spPr>
          <a:xfrm>
            <a:off x="209550" y="3405865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0"/>
          <p:cNvSpPr/>
          <p:nvPr/>
        </p:nvSpPr>
        <p:spPr>
          <a:xfrm>
            <a:off x="2249266" y="3392664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Rectangle 21"/>
          <p:cNvSpPr/>
          <p:nvPr/>
        </p:nvSpPr>
        <p:spPr>
          <a:xfrm>
            <a:off x="4280815" y="3392663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Rectangle 22"/>
          <p:cNvSpPr/>
          <p:nvPr/>
        </p:nvSpPr>
        <p:spPr>
          <a:xfrm>
            <a:off x="6464284" y="3372856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extBox 8"/>
          <p:cNvSpPr txBox="1"/>
          <p:nvPr/>
        </p:nvSpPr>
        <p:spPr>
          <a:xfrm>
            <a:off x="314325" y="3719715"/>
            <a:ext cx="1706625" cy="3890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传统包装袋采用缝制工艺，劳动强度大，生产效率低</a:t>
            </a:r>
          </a:p>
        </p:txBody>
      </p:sp>
      <p:sp>
        <p:nvSpPr>
          <p:cNvPr id="15" name="TextBox 8"/>
          <p:cNvSpPr txBox="1"/>
          <p:nvPr/>
        </p:nvSpPr>
        <p:spPr>
          <a:xfrm>
            <a:off x="2352637" y="3719715"/>
            <a:ext cx="1576136" cy="3890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人工灌装，工作环境恶劣，容易造成职业病，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4502643" y="3719714"/>
            <a:ext cx="1584874" cy="3890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人工装车，劳动强度大，炮灰严重，污染环境</a:t>
            </a:r>
          </a:p>
        </p:txBody>
      </p:sp>
      <p:sp>
        <p:nvSpPr>
          <p:cNvPr id="17" name="TextBox 8"/>
          <p:cNvSpPr txBox="1"/>
          <p:nvPr/>
        </p:nvSpPr>
        <p:spPr>
          <a:xfrm>
            <a:off x="6624569" y="3719713"/>
            <a:ext cx="1641070" cy="3890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水泥包装形象脏乱差，水泥品质不能得到提升。</a:t>
            </a:r>
          </a:p>
        </p:txBody>
      </p:sp>
      <p:sp>
        <p:nvSpPr>
          <p:cNvPr id="22" name="矩形 21"/>
          <p:cNvSpPr/>
          <p:nvPr/>
        </p:nvSpPr>
        <p:spPr>
          <a:xfrm>
            <a:off x="325373" y="2987921"/>
            <a:ext cx="1312907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传统包装袋图片</a:t>
            </a:r>
          </a:p>
        </p:txBody>
      </p:sp>
      <p:sp>
        <p:nvSpPr>
          <p:cNvPr id="23" name="矩形 22"/>
          <p:cNvSpPr/>
          <p:nvPr/>
        </p:nvSpPr>
        <p:spPr>
          <a:xfrm>
            <a:off x="2411610" y="2963756"/>
            <a:ext cx="1312907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人工灌装水泥</a:t>
            </a:r>
          </a:p>
        </p:txBody>
      </p:sp>
      <p:sp>
        <p:nvSpPr>
          <p:cNvPr id="24" name="矩形 23"/>
          <p:cNvSpPr/>
          <p:nvPr/>
        </p:nvSpPr>
        <p:spPr>
          <a:xfrm>
            <a:off x="4806448" y="2967609"/>
            <a:ext cx="1312907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人工装车</a:t>
            </a:r>
          </a:p>
        </p:txBody>
      </p:sp>
      <p:sp>
        <p:nvSpPr>
          <p:cNvPr id="25" name="矩形 24"/>
          <p:cNvSpPr/>
          <p:nvPr/>
        </p:nvSpPr>
        <p:spPr>
          <a:xfrm>
            <a:off x="6699387" y="2932048"/>
            <a:ext cx="1312907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水泥形象脏乱差</a:t>
            </a:r>
          </a:p>
        </p:txBody>
      </p:sp>
      <p:pic>
        <p:nvPicPr>
          <p:cNvPr id="3" name="图片 2" descr="文本, 信件&#10;&#10;描述已自动生成">
            <a:extLst>
              <a:ext uri="{FF2B5EF4-FFF2-40B4-BE49-F238E27FC236}">
                <a16:creationId xmlns:a16="http://schemas.microsoft.com/office/drawing/2014/main" id="{A35DDDA5-D7BA-4AF2-A9C6-96165BD75B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748794"/>
            <a:ext cx="1556386" cy="2041840"/>
          </a:xfrm>
          <a:prstGeom prst="rect">
            <a:avLst/>
          </a:prstGeom>
        </p:spPr>
      </p:pic>
      <p:pic>
        <p:nvPicPr>
          <p:cNvPr id="27" name="图片 26" descr="图片包含 覆盖, 不同, 许多, 桌子&#10;&#10;描述已自动生成">
            <a:extLst>
              <a:ext uri="{FF2B5EF4-FFF2-40B4-BE49-F238E27FC236}">
                <a16:creationId xmlns:a16="http://schemas.microsoft.com/office/drawing/2014/main" id="{C2003DAC-26E0-42E2-A913-5BF1D8D7A3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712" y="746924"/>
            <a:ext cx="2312145" cy="2041840"/>
          </a:xfrm>
          <a:prstGeom prst="rect">
            <a:avLst/>
          </a:prstGeom>
        </p:spPr>
      </p:pic>
      <p:pic>
        <p:nvPicPr>
          <p:cNvPr id="29" name="图片 28" descr="图片包含 窗户, 男人, 汽车, 旧&#10;&#10;描述已自动生成">
            <a:extLst>
              <a:ext uri="{FF2B5EF4-FFF2-40B4-BE49-F238E27FC236}">
                <a16:creationId xmlns:a16="http://schemas.microsoft.com/office/drawing/2014/main" id="{C9B7A54D-633B-4A07-9904-D4E863F0F8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907" y="741654"/>
            <a:ext cx="2101458" cy="2016462"/>
          </a:xfrm>
          <a:prstGeom prst="rect">
            <a:avLst/>
          </a:prstGeom>
        </p:spPr>
      </p:pic>
      <p:pic>
        <p:nvPicPr>
          <p:cNvPr id="31" name="图片 30" descr="石头墙上&#10;&#10;描述已自动生成">
            <a:extLst>
              <a:ext uri="{FF2B5EF4-FFF2-40B4-BE49-F238E27FC236}">
                <a16:creationId xmlns:a16="http://schemas.microsoft.com/office/drawing/2014/main" id="{EA808D4F-B62E-4598-8D4E-2011F7E17E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15" y="785911"/>
            <a:ext cx="2012853" cy="195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0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7000">
        <p:random/>
      </p:transition>
    </mc:Choice>
    <mc:Fallback xmlns="">
      <p:transition spd="slow" advTm="7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900"/>
                            </p:stCondLst>
                            <p:childTnLst>
                              <p:par>
                                <p:cTn id="5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75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600"/>
                            </p:stCondLst>
                            <p:childTnLst>
                              <p:par>
                                <p:cTn id="6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22" grpId="0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09550" y="98806"/>
            <a:ext cx="8368882" cy="539369"/>
            <a:chOff x="279400" y="131741"/>
            <a:chExt cx="11158509" cy="719159"/>
          </a:xfrm>
        </p:grpSpPr>
        <p:grpSp>
          <p:nvGrpSpPr>
            <p:cNvPr id="6" name="组合 5"/>
            <p:cNvGrpSpPr/>
            <p:nvPr/>
          </p:nvGrpSpPr>
          <p:grpSpPr>
            <a:xfrm>
              <a:off x="279400" y="165100"/>
              <a:ext cx="241300" cy="685800"/>
              <a:chOff x="279400" y="165100"/>
              <a:chExt cx="241300" cy="68580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79400" y="165100"/>
                <a:ext cx="101600" cy="6858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19100" y="165100"/>
                <a:ext cx="101600" cy="330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</p:grpSp>
        <p:sp>
          <p:nvSpPr>
            <p:cNvPr id="7" name="TextBox 54"/>
            <p:cNvSpPr txBox="1"/>
            <p:nvPr/>
          </p:nvSpPr>
          <p:spPr>
            <a:xfrm>
              <a:off x="694367" y="131741"/>
              <a:ext cx="50422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2100" dirty="0"/>
                <a:t>方底阀口包装袋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758853" y="836712"/>
              <a:ext cx="1067905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Rectangle 18"/>
          <p:cNvSpPr/>
          <p:nvPr/>
        </p:nvSpPr>
        <p:spPr>
          <a:xfrm>
            <a:off x="209550" y="3405865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0"/>
          <p:cNvSpPr/>
          <p:nvPr/>
        </p:nvSpPr>
        <p:spPr>
          <a:xfrm>
            <a:off x="2249266" y="3392664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Rectangle 21"/>
          <p:cNvSpPr/>
          <p:nvPr/>
        </p:nvSpPr>
        <p:spPr>
          <a:xfrm>
            <a:off x="4280815" y="3392663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Rectangle 22"/>
          <p:cNvSpPr/>
          <p:nvPr/>
        </p:nvSpPr>
        <p:spPr>
          <a:xfrm>
            <a:off x="6464284" y="3372856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extBox 8"/>
          <p:cNvSpPr txBox="1"/>
          <p:nvPr/>
        </p:nvSpPr>
        <p:spPr>
          <a:xfrm>
            <a:off x="247650" y="3719949"/>
            <a:ext cx="1816484" cy="5922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方底阀口袋袋型美观，带有自封阀口，纳米微孔，既满足水泥灌装透气要求，也不漏灰</a:t>
            </a:r>
          </a:p>
        </p:txBody>
      </p:sp>
      <p:sp>
        <p:nvSpPr>
          <p:cNvPr id="15" name="TextBox 8"/>
          <p:cNvSpPr txBox="1"/>
          <p:nvPr/>
        </p:nvSpPr>
        <p:spPr>
          <a:xfrm>
            <a:off x="2285962" y="3754085"/>
            <a:ext cx="1858270" cy="3890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机器自动进袋灌装水泥，灌装时也不漏灰，车间环境干净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4432735" y="3855651"/>
            <a:ext cx="1584874" cy="1859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自动输送装车</a:t>
            </a:r>
          </a:p>
        </p:txBody>
      </p:sp>
      <p:sp>
        <p:nvSpPr>
          <p:cNvPr id="17" name="TextBox 8"/>
          <p:cNvSpPr txBox="1"/>
          <p:nvPr/>
        </p:nvSpPr>
        <p:spPr>
          <a:xfrm>
            <a:off x="6509472" y="3719949"/>
            <a:ext cx="1871264" cy="5922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方底阀口袋能有效抱回水泥</a:t>
            </a: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28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天强度，保证建筑工程不会因水泥强度降低而危及质量</a:t>
            </a:r>
          </a:p>
        </p:txBody>
      </p:sp>
      <p:sp>
        <p:nvSpPr>
          <p:cNvPr id="22" name="矩形 21"/>
          <p:cNvSpPr/>
          <p:nvPr/>
        </p:nvSpPr>
        <p:spPr>
          <a:xfrm>
            <a:off x="325373" y="2987921"/>
            <a:ext cx="1312907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方底阀口袋图片</a:t>
            </a:r>
          </a:p>
        </p:txBody>
      </p:sp>
      <p:sp>
        <p:nvSpPr>
          <p:cNvPr id="23" name="矩形 22"/>
          <p:cNvSpPr/>
          <p:nvPr/>
        </p:nvSpPr>
        <p:spPr>
          <a:xfrm>
            <a:off x="2484251" y="2967354"/>
            <a:ext cx="1312907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自动灌装水泥</a:t>
            </a:r>
          </a:p>
        </p:txBody>
      </p:sp>
      <p:sp>
        <p:nvSpPr>
          <p:cNvPr id="24" name="矩形 23"/>
          <p:cNvSpPr/>
          <p:nvPr/>
        </p:nvSpPr>
        <p:spPr>
          <a:xfrm>
            <a:off x="4502643" y="2987921"/>
            <a:ext cx="1312907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自动装车</a:t>
            </a:r>
          </a:p>
        </p:txBody>
      </p:sp>
      <p:sp>
        <p:nvSpPr>
          <p:cNvPr id="25" name="矩形 24"/>
          <p:cNvSpPr/>
          <p:nvPr/>
        </p:nvSpPr>
        <p:spPr>
          <a:xfrm>
            <a:off x="6952732" y="2930166"/>
            <a:ext cx="1312907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保护水泥强度</a:t>
            </a:r>
          </a:p>
        </p:txBody>
      </p:sp>
      <p:pic>
        <p:nvPicPr>
          <p:cNvPr id="18" name="图片 17" descr="文本, 信件, 日历&#10;&#10;描述已自动生成">
            <a:extLst>
              <a:ext uri="{FF2B5EF4-FFF2-40B4-BE49-F238E27FC236}">
                <a16:creationId xmlns:a16="http://schemas.microsoft.com/office/drawing/2014/main" id="{8788F56B-AC20-49C9-8544-7EF5EEB835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9" y="973464"/>
            <a:ext cx="2056462" cy="1598286"/>
          </a:xfrm>
          <a:prstGeom prst="rect">
            <a:avLst/>
          </a:prstGeom>
        </p:spPr>
      </p:pic>
      <p:pic>
        <p:nvPicPr>
          <p:cNvPr id="20" name="图片 19" descr="机器在桌子上&#10;&#10;低可信度描述已自动生成">
            <a:extLst>
              <a:ext uri="{FF2B5EF4-FFF2-40B4-BE49-F238E27FC236}">
                <a16:creationId xmlns:a16="http://schemas.microsoft.com/office/drawing/2014/main" id="{C190AB41-B172-4054-9D25-16845EC698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242" y="691383"/>
            <a:ext cx="1883468" cy="1059451"/>
          </a:xfrm>
          <a:prstGeom prst="rect">
            <a:avLst/>
          </a:prstGeom>
        </p:spPr>
      </p:pic>
      <p:pic>
        <p:nvPicPr>
          <p:cNvPr id="26" name="图片 25" descr="图片包含 行李, 房间, 项目, 覆盖&#10;&#10;描述已自动生成">
            <a:extLst>
              <a:ext uri="{FF2B5EF4-FFF2-40B4-BE49-F238E27FC236}">
                <a16:creationId xmlns:a16="http://schemas.microsoft.com/office/drawing/2014/main" id="{97403009-7945-408B-B23D-7FBC11EA53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263" y="1765533"/>
            <a:ext cx="1921425" cy="1080802"/>
          </a:xfrm>
          <a:prstGeom prst="rect">
            <a:avLst/>
          </a:prstGeom>
        </p:spPr>
      </p:pic>
      <p:pic>
        <p:nvPicPr>
          <p:cNvPr id="30" name="图片 29" descr="围栏内的火车&#10;&#10;描述已自动生成">
            <a:extLst>
              <a:ext uri="{FF2B5EF4-FFF2-40B4-BE49-F238E27FC236}">
                <a16:creationId xmlns:a16="http://schemas.microsoft.com/office/drawing/2014/main" id="{E5BAA0EF-A896-4249-920F-47C3078006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688" y="691383"/>
            <a:ext cx="1808849" cy="1017478"/>
          </a:xfrm>
          <a:prstGeom prst="rect">
            <a:avLst/>
          </a:prstGeom>
        </p:spPr>
      </p:pic>
      <p:pic>
        <p:nvPicPr>
          <p:cNvPr id="35" name="图片 34" descr="卡车停在路边&#10;&#10;描述已自动生成">
            <a:extLst>
              <a:ext uri="{FF2B5EF4-FFF2-40B4-BE49-F238E27FC236}">
                <a16:creationId xmlns:a16="http://schemas.microsoft.com/office/drawing/2014/main" id="{E18E7D34-B57D-4A58-8E42-9B10D4863FD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761" y="1773576"/>
            <a:ext cx="1907126" cy="1072759"/>
          </a:xfrm>
          <a:prstGeom prst="rect">
            <a:avLst/>
          </a:prstGeom>
        </p:spPr>
      </p:pic>
      <p:pic>
        <p:nvPicPr>
          <p:cNvPr id="37" name="图片 36" descr="城市里的高楼大厦&#10;&#10;描述已自动生成">
            <a:extLst>
              <a:ext uri="{FF2B5EF4-FFF2-40B4-BE49-F238E27FC236}">
                <a16:creationId xmlns:a16="http://schemas.microsoft.com/office/drawing/2014/main" id="{7FAC7A1B-C0CA-40CD-B752-75D65086DB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01" y="759752"/>
            <a:ext cx="2717596" cy="203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8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000">
        <p:random/>
      </p:transition>
    </mc:Choice>
    <mc:Fallback xmlns="">
      <p:transition spd="slow" advTm="6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900"/>
                            </p:stCondLst>
                            <p:childTnLst>
                              <p:par>
                                <p:cTn id="5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75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600"/>
                            </p:stCondLst>
                            <p:childTnLst>
                              <p:par>
                                <p:cTn id="6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22" grpId="0"/>
      <p:bldP spid="23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45100" y="1437624"/>
            <a:ext cx="1350326" cy="135015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5100" y="2787774"/>
            <a:ext cx="1350326" cy="81009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拉丝机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:Tape Line</a:t>
            </a:r>
          </a:p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把颗粒拉成丝</a:t>
            </a:r>
          </a:p>
        </p:txBody>
      </p:sp>
      <p:sp>
        <p:nvSpPr>
          <p:cNvPr id="4" name="矩形 3"/>
          <p:cNvSpPr/>
          <p:nvPr/>
        </p:nvSpPr>
        <p:spPr>
          <a:xfrm>
            <a:off x="2370969" y="1437624"/>
            <a:ext cx="1350326" cy="135015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70969" y="2787774"/>
            <a:ext cx="1350326" cy="81009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圆织机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:Loom</a:t>
            </a:r>
          </a:p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把丝织成筒状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PP Tubular fabric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或者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ground fabric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96837" y="1437624"/>
            <a:ext cx="1350326" cy="135015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96837" y="2787774"/>
            <a:ext cx="1350326" cy="81009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涂膜机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:Lamination</a:t>
            </a:r>
          </a:p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在筒状面料上两面涂膜（对方底阀口袋生产非常关键）</a:t>
            </a:r>
          </a:p>
        </p:txBody>
      </p:sp>
      <p:sp>
        <p:nvSpPr>
          <p:cNvPr id="8" name="矩形 7"/>
          <p:cNvSpPr/>
          <p:nvPr/>
        </p:nvSpPr>
        <p:spPr>
          <a:xfrm>
            <a:off x="5422705" y="1437624"/>
            <a:ext cx="1350326" cy="135015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422705" y="2787774"/>
            <a:ext cx="1350326" cy="81009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印刷机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:Printing Machine</a:t>
            </a:r>
          </a:p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在涂膜上印刷</a:t>
            </a:r>
          </a:p>
        </p:txBody>
      </p:sp>
      <p:sp>
        <p:nvSpPr>
          <p:cNvPr id="10" name="矩形 9"/>
          <p:cNvSpPr/>
          <p:nvPr/>
        </p:nvSpPr>
        <p:spPr>
          <a:xfrm>
            <a:off x="6948573" y="1437624"/>
            <a:ext cx="1350326" cy="135015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48573" y="2787774"/>
            <a:ext cx="1350326" cy="81009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方底阀口制袋机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Block Bottom er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439244" y="2409732"/>
            <a:ext cx="6265511" cy="162018"/>
            <a:chOff x="1918742" y="3212976"/>
            <a:chExt cx="8352927" cy="216024"/>
          </a:xfrm>
        </p:grpSpPr>
        <p:sp>
          <p:nvSpPr>
            <p:cNvPr id="30" name="椭圆 29"/>
            <p:cNvSpPr/>
            <p:nvPr/>
          </p:nvSpPr>
          <p:spPr>
            <a:xfrm>
              <a:off x="1918742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13428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987194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8021420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0055645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959948" y="3298129"/>
              <a:ext cx="8136905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sp>
        <p:nvSpPr>
          <p:cNvPr id="36" name="等腰三角形 35"/>
          <p:cNvSpPr/>
          <p:nvPr/>
        </p:nvSpPr>
        <p:spPr>
          <a:xfrm flipV="1">
            <a:off x="1426281" y="3597864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7" name="等腰三角形 36"/>
          <p:cNvSpPr/>
          <p:nvPr/>
        </p:nvSpPr>
        <p:spPr>
          <a:xfrm flipV="1">
            <a:off x="2952149" y="3597864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8" name="等腰三角形 37"/>
          <p:cNvSpPr/>
          <p:nvPr/>
        </p:nvSpPr>
        <p:spPr>
          <a:xfrm flipV="1">
            <a:off x="4478017" y="3597864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 flipV="1">
            <a:off x="6003885" y="3597864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 flipV="1">
            <a:off x="7529753" y="3597864"/>
            <a:ext cx="187965" cy="162018"/>
          </a:xfrm>
          <a:prstGeom prst="triangle">
            <a:avLst/>
          </a:prstGeom>
          <a:solidFill>
            <a:schemeClr val="tx2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91941" y="3860925"/>
            <a:ext cx="856646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第一阶段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7809" y="3860925"/>
            <a:ext cx="856646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第二阶段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3677" y="3860925"/>
            <a:ext cx="856646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第三阶段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545" y="3860925"/>
            <a:ext cx="856646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第四阶段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8239" y="3860925"/>
            <a:ext cx="830997" cy="27699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第六阶段</a:t>
            </a:r>
          </a:p>
        </p:txBody>
      </p:sp>
      <p:sp>
        <p:nvSpPr>
          <p:cNvPr id="46" name="TextBox 54">
            <a:extLst>
              <a:ext uri="{FF2B5EF4-FFF2-40B4-BE49-F238E27FC236}">
                <a16:creationId xmlns:a16="http://schemas.microsoft.com/office/drawing/2014/main" id="{65FF212B-B9E0-827C-8644-7FD84FFFB9E7}"/>
              </a:ext>
            </a:extLst>
          </p:cNvPr>
          <p:cNvSpPr txBox="1"/>
          <p:nvPr/>
        </p:nvSpPr>
        <p:spPr>
          <a:xfrm>
            <a:off x="520775" y="98806"/>
            <a:ext cx="37816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2100" dirty="0"/>
              <a:t>方底阀口包装袋全流程示意图</a:t>
            </a:r>
          </a:p>
        </p:txBody>
      </p:sp>
      <p:pic>
        <p:nvPicPr>
          <p:cNvPr id="17" name="图片 16" descr="图片包含 室内, 卡车, 小, 大&#10;&#10;描述已自动生成">
            <a:extLst>
              <a:ext uri="{FF2B5EF4-FFF2-40B4-BE49-F238E27FC236}">
                <a16:creationId xmlns:a16="http://schemas.microsoft.com/office/drawing/2014/main" id="{822AE83D-17A5-9C41-D1AA-2D8BEDAC7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12" y="1492518"/>
            <a:ext cx="1301496" cy="971451"/>
          </a:xfrm>
          <a:prstGeom prst="rect">
            <a:avLst/>
          </a:prstGeom>
        </p:spPr>
      </p:pic>
      <p:pic>
        <p:nvPicPr>
          <p:cNvPr id="19" name="图片 18" descr="图片包含 室内, 建筑, 椅子, 桌子&#10;&#10;描述已自动生成">
            <a:extLst>
              <a:ext uri="{FF2B5EF4-FFF2-40B4-BE49-F238E27FC236}">
                <a16:creationId xmlns:a16="http://schemas.microsoft.com/office/drawing/2014/main" id="{5F198D76-25C8-4EB9-EDDF-3452EC5575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079" y="1503610"/>
            <a:ext cx="1339649" cy="706926"/>
          </a:xfrm>
          <a:prstGeom prst="rect">
            <a:avLst/>
          </a:prstGeom>
        </p:spPr>
      </p:pic>
      <p:pic>
        <p:nvPicPr>
          <p:cNvPr id="21" name="图片 20" descr="机器在桌子上&#10;&#10;低可信度描述已自动生成">
            <a:extLst>
              <a:ext uri="{FF2B5EF4-FFF2-40B4-BE49-F238E27FC236}">
                <a16:creationId xmlns:a16="http://schemas.microsoft.com/office/drawing/2014/main" id="{6A0927B4-96AA-05E9-298F-A94A95BF1C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082" y="1496319"/>
            <a:ext cx="1400267" cy="508368"/>
          </a:xfrm>
          <a:prstGeom prst="rect">
            <a:avLst/>
          </a:prstGeom>
        </p:spPr>
      </p:pic>
      <p:pic>
        <p:nvPicPr>
          <p:cNvPr id="23" name="图片 22" descr="图片包含 室内, 厨房, 冰箱, 卡车&#10;&#10;描述已自动生成">
            <a:extLst>
              <a:ext uri="{FF2B5EF4-FFF2-40B4-BE49-F238E27FC236}">
                <a16:creationId xmlns:a16="http://schemas.microsoft.com/office/drawing/2014/main" id="{432893EE-DFCE-623C-B44C-375D88C458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161" y="1507236"/>
            <a:ext cx="1370197" cy="497451"/>
          </a:xfrm>
          <a:prstGeom prst="rect">
            <a:avLst/>
          </a:prstGeom>
        </p:spPr>
      </p:pic>
      <p:pic>
        <p:nvPicPr>
          <p:cNvPr id="24" name="图片 23" descr="图片包含 窗户, 桌子, 大, 照片&#10;&#10;描述已自动生成">
            <a:extLst>
              <a:ext uri="{FF2B5EF4-FFF2-40B4-BE49-F238E27FC236}">
                <a16:creationId xmlns:a16="http://schemas.microsoft.com/office/drawing/2014/main" id="{852727B6-5875-FF8D-66C5-9C4033B298B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939" y="1457708"/>
            <a:ext cx="1410842" cy="68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3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 advClick="0">
        <p14:switch dir="r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/>
      <p:bldP spid="43" grpId="0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09550" y="98806"/>
            <a:ext cx="8368882" cy="539369"/>
            <a:chOff x="279400" y="131741"/>
            <a:chExt cx="11158509" cy="719159"/>
          </a:xfrm>
        </p:grpSpPr>
        <p:grpSp>
          <p:nvGrpSpPr>
            <p:cNvPr id="6" name="组合 5"/>
            <p:cNvGrpSpPr/>
            <p:nvPr/>
          </p:nvGrpSpPr>
          <p:grpSpPr>
            <a:xfrm>
              <a:off x="279400" y="165100"/>
              <a:ext cx="241300" cy="685800"/>
              <a:chOff x="279400" y="165100"/>
              <a:chExt cx="241300" cy="68580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79400" y="165100"/>
                <a:ext cx="101600" cy="6858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19100" y="165100"/>
                <a:ext cx="101600" cy="330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</p:grpSp>
        <p:sp>
          <p:nvSpPr>
            <p:cNvPr id="7" name="TextBox 54"/>
            <p:cNvSpPr txBox="1"/>
            <p:nvPr/>
          </p:nvSpPr>
          <p:spPr>
            <a:xfrm>
              <a:off x="694367" y="131741"/>
              <a:ext cx="759238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en-US" altLang="zh-CN" sz="2100" dirty="0"/>
                <a:t>BVM-120</a:t>
              </a:r>
              <a:r>
                <a:rPr lang="zh-CN" altLang="en-US" sz="2100" dirty="0"/>
                <a:t>型方底阀口制袋机成型工艺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758853" y="836712"/>
              <a:ext cx="1067905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" name="矩形 17"/>
          <p:cNvSpPr>
            <a:spLocks noChangeArrowheads="1"/>
          </p:cNvSpPr>
          <p:nvPr/>
        </p:nvSpPr>
        <p:spPr bwMode="auto">
          <a:xfrm>
            <a:off x="4784526" y="763784"/>
            <a:ext cx="4073722" cy="1113505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>
            <a:outerShdw blurRad="444500" sx="101000" sy="101000" algn="ctr" rotWithShape="0">
              <a:prstClr val="black">
                <a:alpha val="18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设备名称：方底阀口制袋机</a:t>
            </a:r>
            <a:endParaRPr lang="en-US" altLang="zh-CN" kern="0" dirty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宋体" panose="02010600030101010101" pitchFamily="2" charset="-122"/>
            </a:endParaRPr>
          </a:p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英文关键词：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Square Bottom Valve Bag Making Machine</a:t>
            </a: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、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Block Bottom Valve Bag Making Machine </a:t>
            </a:r>
            <a:r>
              <a:rPr lang="zh-CN" altLang="en-US" kern="0" dirty="0">
                <a:solidFill>
                  <a:prstClr val="white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宋体" panose="02010600030101010101" pitchFamily="2" charset="-122"/>
              </a:rPr>
              <a:t>、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Block Bottomer</a:t>
            </a:r>
            <a:endParaRPr lang="zh-CN" altLang="en-US" kern="0" dirty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3" name="图片 2" descr="图片包含 窗户, 桌子, 大, 照片&#10;&#10;描述已自动生成">
            <a:extLst>
              <a:ext uri="{FF2B5EF4-FFF2-40B4-BE49-F238E27FC236}">
                <a16:creationId xmlns:a16="http://schemas.microsoft.com/office/drawing/2014/main" id="{BDEC3FAC-F864-D9C7-0C9A-10B90CCFF5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749595"/>
            <a:ext cx="4073724" cy="1989341"/>
          </a:xfrm>
          <a:prstGeom prst="rect">
            <a:avLst/>
          </a:prstGeom>
        </p:spPr>
      </p:pic>
      <p:pic>
        <p:nvPicPr>
          <p:cNvPr id="10" name="图片 9" descr="图示&#10;&#10;描述已自动生成">
            <a:extLst>
              <a:ext uri="{FF2B5EF4-FFF2-40B4-BE49-F238E27FC236}">
                <a16:creationId xmlns:a16="http://schemas.microsoft.com/office/drawing/2014/main" id="{107E67BA-C313-689F-D15E-BF0D944AA2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49" y="2738936"/>
            <a:ext cx="4073723" cy="2401309"/>
          </a:xfrm>
          <a:prstGeom prst="rect">
            <a:avLst/>
          </a:prstGeom>
        </p:spPr>
      </p:pic>
      <p:sp>
        <p:nvSpPr>
          <p:cNvPr id="12" name="矩形 17">
            <a:extLst>
              <a:ext uri="{FF2B5EF4-FFF2-40B4-BE49-F238E27FC236}">
                <a16:creationId xmlns:a16="http://schemas.microsoft.com/office/drawing/2014/main" id="{139A595B-41D6-9B2A-DDF4-8E97D1F40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525" y="2932020"/>
            <a:ext cx="4137801" cy="1583946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>
            <a:outerShdw blurRad="444500" sx="101000" sy="101000" algn="ctr" rotWithShape="0">
              <a:prstClr val="black">
                <a:alpha val="18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成型工艺：热风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(Hot Air)</a:t>
            </a:r>
          </a:p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图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4</a:t>
            </a: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：热风头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(Hot Air Gun)</a:t>
            </a:r>
          </a:p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风机（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Air Blower </a:t>
            </a:r>
            <a:r>
              <a:rPr lang="zh-CN" altLang="en-US" kern="0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宋体" panose="02010600030101010101" pitchFamily="2" charset="-122"/>
              </a:rPr>
              <a:t>、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宋体" panose="02010600030101010101" pitchFamily="2" charset="-122"/>
              </a:rPr>
              <a:t>Fan</a:t>
            </a: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）把空气吹进加热芯（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Heat Core</a:t>
            </a: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）装置内，空气加热后从图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4</a:t>
            </a: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热风头模嘴处吹到面料上的涂膜层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(Lamination)</a:t>
            </a:r>
          </a:p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加热最高温度可达到</a:t>
            </a:r>
            <a:r>
              <a:rPr lang="en-US" altLang="zh-CN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750</a:t>
            </a:r>
            <a:r>
              <a: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度</a:t>
            </a:r>
            <a:endParaRPr lang="en-US" altLang="zh-CN" kern="0" dirty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787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45100" y="1437624"/>
            <a:ext cx="1350326" cy="135015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5100" y="2787774"/>
            <a:ext cx="1350326" cy="81009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筒状布卷放送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Tubular Fabric Roll Unwind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70969" y="1437624"/>
            <a:ext cx="1350326" cy="135015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70969" y="2787774"/>
            <a:ext cx="1350326" cy="81009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切断成为袋片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Cutting into P by P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96837" y="1437624"/>
            <a:ext cx="1350326" cy="135015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96837" y="2787774"/>
            <a:ext cx="1350326" cy="81009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袋底打开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Bottom End Open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22705" y="1437624"/>
            <a:ext cx="1350326" cy="135015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422705" y="2787774"/>
            <a:ext cx="1350326" cy="81009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贴阀口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Valve Patch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48573" y="1437624"/>
            <a:ext cx="1350326" cy="135015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48573" y="2787774"/>
            <a:ext cx="1350326" cy="81009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贴底贴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Bottom Patch Cover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439244" y="2409732"/>
            <a:ext cx="6265511" cy="162018"/>
            <a:chOff x="1918742" y="3212976"/>
            <a:chExt cx="8352927" cy="216024"/>
          </a:xfrm>
        </p:grpSpPr>
        <p:sp>
          <p:nvSpPr>
            <p:cNvPr id="30" name="椭圆 29"/>
            <p:cNvSpPr/>
            <p:nvPr/>
          </p:nvSpPr>
          <p:spPr>
            <a:xfrm>
              <a:off x="1918742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13428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987194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8021420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0055645" y="3212976"/>
              <a:ext cx="216024" cy="2160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959948" y="3298129"/>
              <a:ext cx="8136905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sp>
        <p:nvSpPr>
          <p:cNvPr id="36" name="等腰三角形 35"/>
          <p:cNvSpPr/>
          <p:nvPr/>
        </p:nvSpPr>
        <p:spPr>
          <a:xfrm flipV="1">
            <a:off x="1426281" y="3597864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7" name="等腰三角形 36"/>
          <p:cNvSpPr/>
          <p:nvPr/>
        </p:nvSpPr>
        <p:spPr>
          <a:xfrm flipV="1">
            <a:off x="2952149" y="3597864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8" name="等腰三角形 37"/>
          <p:cNvSpPr/>
          <p:nvPr/>
        </p:nvSpPr>
        <p:spPr>
          <a:xfrm flipV="1">
            <a:off x="4478017" y="3597864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 flipV="1">
            <a:off x="5947868" y="1228577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 flipV="1">
            <a:off x="7529753" y="3597864"/>
            <a:ext cx="187965" cy="162018"/>
          </a:xfrm>
          <a:prstGeom prst="triangle">
            <a:avLst/>
          </a:prstGeom>
          <a:solidFill>
            <a:schemeClr val="tx2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91941" y="3860925"/>
            <a:ext cx="856646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第一阶段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7809" y="3860925"/>
            <a:ext cx="856646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第二阶段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3677" y="3860925"/>
            <a:ext cx="856646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第三阶段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545" y="3860925"/>
            <a:ext cx="856646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第四阶段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8239" y="3860925"/>
            <a:ext cx="830997" cy="27699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第六阶段</a:t>
            </a:r>
          </a:p>
        </p:txBody>
      </p:sp>
      <p:sp>
        <p:nvSpPr>
          <p:cNvPr id="46" name="TextBox 54">
            <a:extLst>
              <a:ext uri="{FF2B5EF4-FFF2-40B4-BE49-F238E27FC236}">
                <a16:creationId xmlns:a16="http://schemas.microsoft.com/office/drawing/2014/main" id="{65FF212B-B9E0-827C-8644-7FD84FFFB9E7}"/>
              </a:ext>
            </a:extLst>
          </p:cNvPr>
          <p:cNvSpPr txBox="1"/>
          <p:nvPr/>
        </p:nvSpPr>
        <p:spPr>
          <a:xfrm>
            <a:off x="480133" y="1222"/>
            <a:ext cx="37816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2100" dirty="0"/>
              <a:t>方底阀口包装袋生产示意图</a:t>
            </a:r>
          </a:p>
        </p:txBody>
      </p:sp>
      <p:pic>
        <p:nvPicPr>
          <p:cNvPr id="48" name="图片 47" descr="图示&#10;&#10;描述已自动生成">
            <a:extLst>
              <a:ext uri="{FF2B5EF4-FFF2-40B4-BE49-F238E27FC236}">
                <a16:creationId xmlns:a16="http://schemas.microsoft.com/office/drawing/2014/main" id="{3D6E21AA-4648-A2B3-D46B-1A73163F60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37" y="1437624"/>
            <a:ext cx="1353712" cy="956194"/>
          </a:xfrm>
          <a:prstGeom prst="rect">
            <a:avLst/>
          </a:prstGeom>
        </p:spPr>
      </p:pic>
      <p:pic>
        <p:nvPicPr>
          <p:cNvPr id="50" name="图片 49" descr="图示&#10;&#10;描述已自动生成">
            <a:extLst>
              <a:ext uri="{FF2B5EF4-FFF2-40B4-BE49-F238E27FC236}">
                <a16:creationId xmlns:a16="http://schemas.microsoft.com/office/drawing/2014/main" id="{A2482062-BFCB-CA97-3D44-087CE66CE3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16" t="21580" r="12871" b="24924"/>
          <a:stretch/>
        </p:blipFill>
        <p:spPr>
          <a:xfrm>
            <a:off x="2453068" y="1457450"/>
            <a:ext cx="1214969" cy="956194"/>
          </a:xfrm>
          <a:prstGeom prst="rect">
            <a:avLst/>
          </a:prstGeom>
        </p:spPr>
      </p:pic>
      <p:pic>
        <p:nvPicPr>
          <p:cNvPr id="52" name="图片 51" descr="图示, 工程绘图&#10;&#10;描述已自动生成">
            <a:extLst>
              <a:ext uri="{FF2B5EF4-FFF2-40B4-BE49-F238E27FC236}">
                <a16:creationId xmlns:a16="http://schemas.microsoft.com/office/drawing/2014/main" id="{776F83ED-54AC-6913-90A4-55833D6CB5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3" t="22344" r="16257" b="24924"/>
          <a:stretch/>
        </p:blipFill>
        <p:spPr>
          <a:xfrm>
            <a:off x="4033297" y="1447262"/>
            <a:ext cx="1135193" cy="946556"/>
          </a:xfrm>
          <a:prstGeom prst="rect">
            <a:avLst/>
          </a:prstGeom>
        </p:spPr>
      </p:pic>
      <p:pic>
        <p:nvPicPr>
          <p:cNvPr id="54" name="图片 53" descr="图示, 工程绘图&#10;&#10;描述已自动生成">
            <a:extLst>
              <a:ext uri="{FF2B5EF4-FFF2-40B4-BE49-F238E27FC236}">
                <a16:creationId xmlns:a16="http://schemas.microsoft.com/office/drawing/2014/main" id="{3FC6FE1A-F20E-C667-A77C-17319B7F53B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78" t="20735" r="12601" b="14962"/>
          <a:stretch/>
        </p:blipFill>
        <p:spPr>
          <a:xfrm>
            <a:off x="5529173" y="1457450"/>
            <a:ext cx="1011898" cy="945295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3CCC84B9-1E38-1EE8-3D7D-A288ACCDA593}"/>
              </a:ext>
            </a:extLst>
          </p:cNvPr>
          <p:cNvSpPr/>
          <p:nvPr/>
        </p:nvSpPr>
        <p:spPr>
          <a:xfrm>
            <a:off x="5633447" y="4095630"/>
            <a:ext cx="1116806" cy="101418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57" name="图片 56" descr="图示&#10;&#10;中度可信度描述已自动生成">
            <a:extLst>
              <a:ext uri="{FF2B5EF4-FFF2-40B4-BE49-F238E27FC236}">
                <a16:creationId xmlns:a16="http://schemas.microsoft.com/office/drawing/2014/main" id="{2E9D0082-6F8B-61B8-7033-E93306931FC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37" t="19945" r="10585" b="22719"/>
          <a:stretch/>
        </p:blipFill>
        <p:spPr>
          <a:xfrm>
            <a:off x="5696005" y="4196649"/>
            <a:ext cx="995739" cy="813399"/>
          </a:xfrm>
          <a:prstGeom prst="rect">
            <a:avLst/>
          </a:prstGeom>
        </p:spPr>
      </p:pic>
      <p:sp>
        <p:nvSpPr>
          <p:cNvPr id="58" name="TextBox 43">
            <a:extLst>
              <a:ext uri="{FF2B5EF4-FFF2-40B4-BE49-F238E27FC236}">
                <a16:creationId xmlns:a16="http://schemas.microsoft.com/office/drawing/2014/main" id="{6849B696-9D0C-AFC4-5E12-C95141EA0D12}"/>
              </a:ext>
            </a:extLst>
          </p:cNvPr>
          <p:cNvSpPr txBox="1"/>
          <p:nvPr/>
        </p:nvSpPr>
        <p:spPr>
          <a:xfrm>
            <a:off x="8123357" y="4464224"/>
            <a:ext cx="830997" cy="27699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第五阶段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CE8B1F0-70E6-CDF8-7364-9DC2F95AA770}"/>
              </a:ext>
            </a:extLst>
          </p:cNvPr>
          <p:cNvSpPr/>
          <p:nvPr/>
        </p:nvSpPr>
        <p:spPr>
          <a:xfrm>
            <a:off x="6773031" y="4209275"/>
            <a:ext cx="1350326" cy="810090"/>
          </a:xfrm>
          <a:prstGeom prst="rect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袋底闭合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Bottom End Close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61" name="图片 60" descr="图示, 工程绘图&#10;&#10;描述已自动生成">
            <a:extLst>
              <a:ext uri="{FF2B5EF4-FFF2-40B4-BE49-F238E27FC236}">
                <a16:creationId xmlns:a16="http://schemas.microsoft.com/office/drawing/2014/main" id="{92502903-6A90-8C62-CAB1-66A68833B58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78" t="21332" r="14214" b="22719"/>
          <a:stretch/>
        </p:blipFill>
        <p:spPr>
          <a:xfrm>
            <a:off x="7028679" y="1447262"/>
            <a:ext cx="1144844" cy="96247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85CB9BB-72DB-4B80-2292-2CA69AA90075}"/>
              </a:ext>
            </a:extLst>
          </p:cNvPr>
          <p:cNvSpPr/>
          <p:nvPr/>
        </p:nvSpPr>
        <p:spPr>
          <a:xfrm>
            <a:off x="903518" y="409702"/>
            <a:ext cx="1350326" cy="8100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筒布放送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PP Tubular fabric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或者 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PP  ground Fabric  unwind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CFEEC7-C26C-AAEE-A855-98F081C2A0AB}"/>
              </a:ext>
            </a:extLst>
          </p:cNvPr>
          <p:cNvSpPr/>
          <p:nvPr/>
        </p:nvSpPr>
        <p:spPr>
          <a:xfrm>
            <a:off x="5399927" y="398477"/>
            <a:ext cx="1350326" cy="8100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阀口放送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Valve Patch Unwind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FE9074-7833-2ED0-6A8A-64765E1E0FEA}"/>
              </a:ext>
            </a:extLst>
          </p:cNvPr>
          <p:cNvSpPr/>
          <p:nvPr/>
        </p:nvSpPr>
        <p:spPr>
          <a:xfrm>
            <a:off x="6961657" y="409702"/>
            <a:ext cx="1350326" cy="8100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底贴放送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algn="ctr"/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Cover Patch Unwind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C14CB154-4A68-742F-8765-FA92748ABABC}"/>
              </a:ext>
            </a:extLst>
          </p:cNvPr>
          <p:cNvSpPr/>
          <p:nvPr/>
        </p:nvSpPr>
        <p:spPr>
          <a:xfrm flipV="1">
            <a:off x="7565365" y="1234723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D91C2776-DA89-953F-E2A2-F81BABE35633}"/>
              </a:ext>
            </a:extLst>
          </p:cNvPr>
          <p:cNvSpPr/>
          <p:nvPr/>
        </p:nvSpPr>
        <p:spPr>
          <a:xfrm flipV="1">
            <a:off x="6003885" y="3597864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10D8ECBD-F959-FF59-9F71-EAA5FE6F26A1}"/>
              </a:ext>
            </a:extLst>
          </p:cNvPr>
          <p:cNvSpPr/>
          <p:nvPr/>
        </p:nvSpPr>
        <p:spPr>
          <a:xfrm flipV="1">
            <a:off x="1429471" y="1234723"/>
            <a:ext cx="187965" cy="162018"/>
          </a:xfrm>
          <a:prstGeom prst="triangle">
            <a:avLst/>
          </a:prstGeom>
          <a:solidFill>
            <a:srgbClr val="D00000"/>
          </a:solidFill>
          <a:ln>
            <a:noFill/>
          </a:ln>
          <a:effectLst>
            <a:outerShdw blurRad="190500" dist="63500" dir="27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 advClick="0">
        <p14:switch dir="r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/>
      <p:bldP spid="43" grpId="0"/>
      <p:bldP spid="44" grpId="0"/>
      <p:bldP spid="45" grpId="0"/>
      <p:bldP spid="55" grpId="0" animBg="1"/>
      <p:bldP spid="58" grpId="0"/>
      <p:bldP spid="5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19471" y="1791808"/>
            <a:ext cx="4428492" cy="3780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0" name="文本框 9"/>
          <p:cNvSpPr txBox="1"/>
          <p:nvPr/>
        </p:nvSpPr>
        <p:spPr>
          <a:xfrm>
            <a:off x="3759258" y="1872890"/>
            <a:ext cx="4315424" cy="207815"/>
          </a:xfrm>
          <a:prstGeom prst="rect">
            <a:avLst/>
          </a:prstGeom>
          <a:noFill/>
        </p:spPr>
        <p:txBody>
          <a:bodyPr wrap="square" lIns="51435" tIns="25718" rIns="51435" bIns="25718" rtlCol="0">
            <a:spAutoFit/>
          </a:bodyPr>
          <a:lstStyle/>
          <a:p>
            <a:pPr marL="0" lvl="1"/>
            <a:r>
              <a:rPr lang="zh-CN" altLang="en-US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方底阀口袋</a:t>
            </a:r>
            <a:r>
              <a:rPr lang="en-US" altLang="zh-CN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: Block Bottom Valve Bag </a:t>
            </a:r>
            <a:r>
              <a:rPr lang="zh-CN" altLang="en-US" sz="1013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Bottom Bag </a:t>
            </a:r>
            <a:r>
              <a:rPr lang="zh-CN" altLang="en-US" sz="1013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Valve Bag</a:t>
            </a:r>
            <a:endParaRPr lang="zh-CN" altLang="en-US" sz="15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47"/>
          <p:cNvSpPr>
            <a:spLocks noChangeArrowheads="1"/>
          </p:cNvSpPr>
          <p:nvPr/>
        </p:nvSpPr>
        <p:spPr bwMode="auto">
          <a:xfrm>
            <a:off x="3610026" y="2228353"/>
            <a:ext cx="5173756" cy="410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加工原材料：涂膜筒布布卷（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Laminated PP Tubular Fabric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）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itchFamily="34" charset="-122"/>
              </a:rPr>
              <a:t>、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阀口平状涂膜布卷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(Laminated Flat Valve Patch Fabric)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itchFamily="34" charset="-122"/>
              </a:rPr>
              <a:t>、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底贴平状涂膜布卷（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Laminated Bottom Patch Fabric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）</a:t>
            </a:r>
          </a:p>
        </p:txBody>
      </p:sp>
      <p:sp>
        <p:nvSpPr>
          <p:cNvPr id="15" name="矩形 14"/>
          <p:cNvSpPr/>
          <p:nvPr/>
        </p:nvSpPr>
        <p:spPr>
          <a:xfrm>
            <a:off x="4486094" y="3255646"/>
            <a:ext cx="2074139" cy="15449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6" name="文本框 9"/>
          <p:cNvSpPr txBox="1"/>
          <p:nvPr/>
        </p:nvSpPr>
        <p:spPr>
          <a:xfrm>
            <a:off x="4324815" y="3369670"/>
            <a:ext cx="2235418" cy="1373903"/>
          </a:xfrm>
          <a:prstGeom prst="rect">
            <a:avLst/>
          </a:prstGeom>
          <a:noFill/>
        </p:spPr>
        <p:txBody>
          <a:bodyPr wrap="square" lIns="51435" tIns="25718" rIns="51435" bIns="25718" rtlCol="0">
            <a:spAutoFit/>
          </a:bodyPr>
          <a:lstStyle/>
          <a:p>
            <a:pPr marL="0" lvl="1" algn="ctr"/>
            <a:r>
              <a:rPr lang="zh-CN" altLang="en-US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阀口类型：</a:t>
            </a:r>
            <a:r>
              <a:rPr lang="en-US" altLang="zh-CN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Valve Mouth Type</a:t>
            </a:r>
          </a:p>
          <a:p>
            <a:pPr marL="0" lvl="1" algn="ctr"/>
            <a:endParaRPr lang="en-US" altLang="zh-CN" sz="1013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algn="ctr"/>
            <a:r>
              <a:rPr lang="zh-CN" altLang="en-US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左侧：常规阀口</a:t>
            </a:r>
            <a:r>
              <a:rPr lang="en-US" altLang="zh-CN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Regular Valve</a:t>
            </a:r>
          </a:p>
          <a:p>
            <a:pPr marL="0" lvl="1" algn="ctr"/>
            <a:endParaRPr lang="en-US" altLang="zh-CN" sz="1013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algn="ctr"/>
            <a:r>
              <a:rPr lang="zh-CN" altLang="en-US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右侧</a:t>
            </a:r>
            <a:r>
              <a:rPr lang="en-US" altLang="zh-CN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口袋阀或者外阀口</a:t>
            </a:r>
            <a:r>
              <a:rPr lang="en-US" altLang="zh-CN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Pocket Valve </a:t>
            </a:r>
            <a:r>
              <a:rPr lang="zh-CN" altLang="en-US" sz="1013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013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Longger</a:t>
            </a:r>
            <a:r>
              <a:rPr lang="en-US" altLang="zh-CN" sz="101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Valve</a:t>
            </a:r>
          </a:p>
          <a:p>
            <a:pPr marL="0" lvl="1" algn="ctr"/>
            <a:endParaRPr lang="en-US" altLang="zh-CN" sz="1013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algn="ctr"/>
            <a:endParaRPr lang="zh-CN" altLang="en-US" sz="15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73732" y="-11230"/>
            <a:ext cx="7073977" cy="61199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zh-CN" altLang="en-US" dirty="0"/>
              <a:t>方底阀口包装袋示意图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40CAF8-CF65-3A27-75C0-22499E7CD7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20" y="600765"/>
            <a:ext cx="2293066" cy="22930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9CECE1-E822-920D-1880-930502C2800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9" t="13229" r="6267" b="8516"/>
          <a:stretch/>
        </p:blipFill>
        <p:spPr>
          <a:xfrm>
            <a:off x="3619471" y="639459"/>
            <a:ext cx="1733248" cy="1130504"/>
          </a:xfrm>
          <a:prstGeom prst="rect">
            <a:avLst/>
          </a:prstGeom>
        </p:spPr>
      </p:pic>
      <p:pic>
        <p:nvPicPr>
          <p:cNvPr id="4" name="图片 3" descr="文本, 信件&#10;&#10;描述已自动生成">
            <a:extLst>
              <a:ext uri="{FF2B5EF4-FFF2-40B4-BE49-F238E27FC236}">
                <a16:creationId xmlns:a16="http://schemas.microsoft.com/office/drawing/2014/main" id="{D316E62E-5CC2-E0F9-31F8-B8C2DBC19D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0" t="11681" r="20639" b="12431"/>
          <a:stretch/>
        </p:blipFill>
        <p:spPr>
          <a:xfrm>
            <a:off x="6606857" y="2582567"/>
            <a:ext cx="2074140" cy="2429741"/>
          </a:xfrm>
          <a:prstGeom prst="rect">
            <a:avLst/>
          </a:prstGeom>
        </p:spPr>
      </p:pic>
      <p:pic>
        <p:nvPicPr>
          <p:cNvPr id="9" name="图片 8" descr="图片包含 游戏机&#10;&#10;描述已自动生成">
            <a:extLst>
              <a:ext uri="{FF2B5EF4-FFF2-40B4-BE49-F238E27FC236}">
                <a16:creationId xmlns:a16="http://schemas.microsoft.com/office/drawing/2014/main" id="{813EFF98-68D7-EFEA-1181-63F17AD73DA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7" t="10371" r="13566" b="5455"/>
          <a:stretch/>
        </p:blipFill>
        <p:spPr>
          <a:xfrm>
            <a:off x="1559944" y="2926438"/>
            <a:ext cx="2550776" cy="223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7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2" grpId="0" animBg="1"/>
      <p:bldP spid="15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73732" y="-11230"/>
            <a:ext cx="7073977" cy="61199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zh-CN" altLang="en-US" dirty="0"/>
              <a:t>包装袋示意图</a:t>
            </a:r>
          </a:p>
        </p:txBody>
      </p:sp>
      <p:pic>
        <p:nvPicPr>
          <p:cNvPr id="6" name="图片 5" descr="图示, 工程绘图&#10;&#10;描述已自动生成">
            <a:extLst>
              <a:ext uri="{FF2B5EF4-FFF2-40B4-BE49-F238E27FC236}">
                <a16:creationId xmlns:a16="http://schemas.microsoft.com/office/drawing/2014/main" id="{D7A169F1-70DC-0E07-6995-EC66C5F50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06" y="814646"/>
            <a:ext cx="7496767" cy="441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7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9933" y="107576"/>
            <a:ext cx="361055" cy="298374"/>
            <a:chOff x="-2" y="5562600"/>
            <a:chExt cx="1581151" cy="1306653"/>
          </a:xfrm>
        </p:grpSpPr>
        <p:sp>
          <p:nvSpPr>
            <p:cNvPr id="3" name="直角三角形 8"/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EB84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4" name="直角三角形 8"/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F2D67C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412320" y="712749"/>
            <a:ext cx="3786188" cy="211455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grpSp>
        <p:nvGrpSpPr>
          <p:cNvPr id="13" name="组合 12"/>
          <p:cNvGrpSpPr/>
          <p:nvPr/>
        </p:nvGrpSpPr>
        <p:grpSpPr>
          <a:xfrm>
            <a:off x="6809476" y="969662"/>
            <a:ext cx="312308" cy="287249"/>
            <a:chOff x="8374817" y="3976831"/>
            <a:chExt cx="719115" cy="661413"/>
          </a:xfrm>
          <a:solidFill>
            <a:srgbClr val="E7CC5D"/>
          </a:solidFill>
        </p:grpSpPr>
        <p:sp>
          <p:nvSpPr>
            <p:cNvPr id="14" name="Freeform 44"/>
            <p:cNvSpPr/>
            <p:nvPr/>
          </p:nvSpPr>
          <p:spPr bwMode="auto">
            <a:xfrm>
              <a:off x="9018919" y="4072040"/>
              <a:ext cx="75013" cy="68522"/>
            </a:xfrm>
            <a:custGeom>
              <a:avLst/>
              <a:gdLst>
                <a:gd name="T0" fmla="*/ 28 w 44"/>
                <a:gd name="T1" fmla="*/ 11 h 40"/>
                <a:gd name="T2" fmla="*/ 0 w 44"/>
                <a:gd name="T3" fmla="*/ 18 h 40"/>
                <a:gd name="T4" fmla="*/ 31 w 44"/>
                <a:gd name="T5" fmla="*/ 40 h 40"/>
                <a:gd name="T6" fmla="*/ 28 w 44"/>
                <a:gd name="T7" fmla="*/ 1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40">
                  <a:moveTo>
                    <a:pt x="28" y="11"/>
                  </a:moveTo>
                  <a:cubicBezTo>
                    <a:pt x="13" y="0"/>
                    <a:pt x="0" y="18"/>
                    <a:pt x="0" y="18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44" y="22"/>
                    <a:pt x="2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5" name="Freeform 45"/>
            <p:cNvSpPr/>
            <p:nvPr/>
          </p:nvSpPr>
          <p:spPr bwMode="auto">
            <a:xfrm>
              <a:off x="8831387" y="4116759"/>
              <a:ext cx="230088" cy="284184"/>
            </a:xfrm>
            <a:custGeom>
              <a:avLst/>
              <a:gdLst>
                <a:gd name="T0" fmla="*/ 187 w 319"/>
                <a:gd name="T1" fmla="*/ 85 h 394"/>
                <a:gd name="T2" fmla="*/ 156 w 319"/>
                <a:gd name="T3" fmla="*/ 125 h 394"/>
                <a:gd name="T4" fmla="*/ 104 w 319"/>
                <a:gd name="T5" fmla="*/ 198 h 394"/>
                <a:gd name="T6" fmla="*/ 0 w 319"/>
                <a:gd name="T7" fmla="*/ 342 h 394"/>
                <a:gd name="T8" fmla="*/ 74 w 319"/>
                <a:gd name="T9" fmla="*/ 394 h 394"/>
                <a:gd name="T10" fmla="*/ 104 w 319"/>
                <a:gd name="T11" fmla="*/ 352 h 394"/>
                <a:gd name="T12" fmla="*/ 130 w 319"/>
                <a:gd name="T13" fmla="*/ 314 h 394"/>
                <a:gd name="T14" fmla="*/ 156 w 319"/>
                <a:gd name="T15" fmla="*/ 276 h 394"/>
                <a:gd name="T16" fmla="*/ 319 w 319"/>
                <a:gd name="T17" fmla="*/ 52 h 394"/>
                <a:gd name="T18" fmla="*/ 248 w 319"/>
                <a:gd name="T19" fmla="*/ 0 h 394"/>
                <a:gd name="T20" fmla="*/ 187 w 319"/>
                <a:gd name="T21" fmla="*/ 8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9" h="394">
                  <a:moveTo>
                    <a:pt x="187" y="85"/>
                  </a:moveTo>
                  <a:lnTo>
                    <a:pt x="156" y="125"/>
                  </a:lnTo>
                  <a:lnTo>
                    <a:pt x="104" y="198"/>
                  </a:lnTo>
                  <a:lnTo>
                    <a:pt x="0" y="342"/>
                  </a:lnTo>
                  <a:lnTo>
                    <a:pt x="74" y="394"/>
                  </a:lnTo>
                  <a:lnTo>
                    <a:pt x="104" y="352"/>
                  </a:lnTo>
                  <a:lnTo>
                    <a:pt x="130" y="314"/>
                  </a:lnTo>
                  <a:lnTo>
                    <a:pt x="156" y="276"/>
                  </a:lnTo>
                  <a:lnTo>
                    <a:pt x="319" y="52"/>
                  </a:lnTo>
                  <a:lnTo>
                    <a:pt x="248" y="0"/>
                  </a:lnTo>
                  <a:lnTo>
                    <a:pt x="187" y="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6" name="Freeform 46"/>
            <p:cNvSpPr/>
            <p:nvPr/>
          </p:nvSpPr>
          <p:spPr bwMode="auto">
            <a:xfrm>
              <a:off x="8374817" y="3976831"/>
              <a:ext cx="569090" cy="661413"/>
            </a:xfrm>
            <a:custGeom>
              <a:avLst/>
              <a:gdLst>
                <a:gd name="T0" fmla="*/ 312 w 334"/>
                <a:gd name="T1" fmla="*/ 348 h 388"/>
                <a:gd name="T2" fmla="*/ 293 w 334"/>
                <a:gd name="T3" fmla="*/ 366 h 388"/>
                <a:gd name="T4" fmla="*/ 40 w 334"/>
                <a:gd name="T5" fmla="*/ 366 h 388"/>
                <a:gd name="T6" fmla="*/ 22 w 334"/>
                <a:gd name="T7" fmla="*/ 348 h 388"/>
                <a:gd name="T8" fmla="*/ 22 w 334"/>
                <a:gd name="T9" fmla="*/ 41 h 388"/>
                <a:gd name="T10" fmla="*/ 40 w 334"/>
                <a:gd name="T11" fmla="*/ 23 h 388"/>
                <a:gd name="T12" fmla="*/ 293 w 334"/>
                <a:gd name="T13" fmla="*/ 23 h 388"/>
                <a:gd name="T14" fmla="*/ 312 w 334"/>
                <a:gd name="T15" fmla="*/ 41 h 388"/>
                <a:gd name="T16" fmla="*/ 312 w 334"/>
                <a:gd name="T17" fmla="*/ 140 h 388"/>
                <a:gd name="T18" fmla="*/ 334 w 334"/>
                <a:gd name="T19" fmla="*/ 109 h 388"/>
                <a:gd name="T20" fmla="*/ 334 w 334"/>
                <a:gd name="T21" fmla="*/ 21 h 388"/>
                <a:gd name="T22" fmla="*/ 313 w 334"/>
                <a:gd name="T23" fmla="*/ 0 h 388"/>
                <a:gd name="T24" fmla="*/ 21 w 334"/>
                <a:gd name="T25" fmla="*/ 0 h 388"/>
                <a:gd name="T26" fmla="*/ 0 w 334"/>
                <a:gd name="T27" fmla="*/ 21 h 388"/>
                <a:gd name="T28" fmla="*/ 0 w 334"/>
                <a:gd name="T29" fmla="*/ 368 h 388"/>
                <a:gd name="T30" fmla="*/ 21 w 334"/>
                <a:gd name="T31" fmla="*/ 388 h 388"/>
                <a:gd name="T32" fmla="*/ 313 w 334"/>
                <a:gd name="T33" fmla="*/ 388 h 388"/>
                <a:gd name="T34" fmla="*/ 334 w 334"/>
                <a:gd name="T35" fmla="*/ 368 h 388"/>
                <a:gd name="T36" fmla="*/ 334 w 334"/>
                <a:gd name="T37" fmla="*/ 223 h 388"/>
                <a:gd name="T38" fmla="*/ 312 w 334"/>
                <a:gd name="T39" fmla="*/ 254 h 388"/>
                <a:gd name="T40" fmla="*/ 312 w 334"/>
                <a:gd name="T41" fmla="*/ 348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4" h="388">
                  <a:moveTo>
                    <a:pt x="312" y="348"/>
                  </a:moveTo>
                  <a:cubicBezTo>
                    <a:pt x="312" y="358"/>
                    <a:pt x="303" y="366"/>
                    <a:pt x="293" y="366"/>
                  </a:cubicBezTo>
                  <a:cubicBezTo>
                    <a:pt x="40" y="366"/>
                    <a:pt x="40" y="366"/>
                    <a:pt x="40" y="366"/>
                  </a:cubicBezTo>
                  <a:cubicBezTo>
                    <a:pt x="30" y="366"/>
                    <a:pt x="22" y="358"/>
                    <a:pt x="22" y="348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2" y="31"/>
                    <a:pt x="30" y="23"/>
                    <a:pt x="40" y="23"/>
                  </a:cubicBezTo>
                  <a:cubicBezTo>
                    <a:pt x="293" y="23"/>
                    <a:pt x="293" y="23"/>
                    <a:pt x="293" y="23"/>
                  </a:cubicBezTo>
                  <a:cubicBezTo>
                    <a:pt x="303" y="23"/>
                    <a:pt x="312" y="31"/>
                    <a:pt x="312" y="41"/>
                  </a:cubicBezTo>
                  <a:cubicBezTo>
                    <a:pt x="312" y="140"/>
                    <a:pt x="312" y="140"/>
                    <a:pt x="312" y="140"/>
                  </a:cubicBezTo>
                  <a:cubicBezTo>
                    <a:pt x="334" y="109"/>
                    <a:pt x="334" y="109"/>
                    <a:pt x="334" y="109"/>
                  </a:cubicBezTo>
                  <a:cubicBezTo>
                    <a:pt x="334" y="21"/>
                    <a:pt x="334" y="21"/>
                    <a:pt x="334" y="21"/>
                  </a:cubicBezTo>
                  <a:cubicBezTo>
                    <a:pt x="334" y="10"/>
                    <a:pt x="325" y="0"/>
                    <a:pt x="313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379"/>
                    <a:pt x="9" y="388"/>
                    <a:pt x="21" y="388"/>
                  </a:cubicBezTo>
                  <a:cubicBezTo>
                    <a:pt x="313" y="388"/>
                    <a:pt x="313" y="388"/>
                    <a:pt x="313" y="388"/>
                  </a:cubicBezTo>
                  <a:cubicBezTo>
                    <a:pt x="325" y="388"/>
                    <a:pt x="334" y="379"/>
                    <a:pt x="334" y="368"/>
                  </a:cubicBezTo>
                  <a:cubicBezTo>
                    <a:pt x="334" y="223"/>
                    <a:pt x="334" y="223"/>
                    <a:pt x="334" y="223"/>
                  </a:cubicBezTo>
                  <a:cubicBezTo>
                    <a:pt x="312" y="254"/>
                    <a:pt x="312" y="254"/>
                    <a:pt x="312" y="254"/>
                  </a:cubicBezTo>
                  <a:lnTo>
                    <a:pt x="312" y="3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7" name="Freeform 47"/>
            <p:cNvSpPr/>
            <p:nvPr/>
          </p:nvSpPr>
          <p:spPr bwMode="auto">
            <a:xfrm>
              <a:off x="8806142" y="4377142"/>
              <a:ext cx="67800" cy="77177"/>
            </a:xfrm>
            <a:custGeom>
              <a:avLst/>
              <a:gdLst>
                <a:gd name="T0" fmla="*/ 21 w 94"/>
                <a:gd name="T1" fmla="*/ 0 h 107"/>
                <a:gd name="T2" fmla="*/ 0 w 94"/>
                <a:gd name="T3" fmla="*/ 107 h 107"/>
                <a:gd name="T4" fmla="*/ 94 w 94"/>
                <a:gd name="T5" fmla="*/ 52 h 107"/>
                <a:gd name="T6" fmla="*/ 21 w 94"/>
                <a:gd name="T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07">
                  <a:moveTo>
                    <a:pt x="21" y="0"/>
                  </a:moveTo>
                  <a:lnTo>
                    <a:pt x="0" y="107"/>
                  </a:lnTo>
                  <a:lnTo>
                    <a:pt x="94" y="52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8" name="Rectangle 48"/>
            <p:cNvSpPr>
              <a:spLocks noChangeArrowheads="1"/>
            </p:cNvSpPr>
            <p:nvPr/>
          </p:nvSpPr>
          <p:spPr bwMode="auto">
            <a:xfrm>
              <a:off x="8459928" y="4504808"/>
              <a:ext cx="228646" cy="346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9" name="Rectangle 49"/>
            <p:cNvSpPr>
              <a:spLocks noChangeArrowheads="1"/>
            </p:cNvSpPr>
            <p:nvPr/>
          </p:nvSpPr>
          <p:spPr bwMode="auto">
            <a:xfrm>
              <a:off x="8459928" y="4428352"/>
              <a:ext cx="228646" cy="33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0" name="Rectangle 50"/>
            <p:cNvSpPr>
              <a:spLocks noChangeArrowheads="1"/>
            </p:cNvSpPr>
            <p:nvPr/>
          </p:nvSpPr>
          <p:spPr bwMode="auto">
            <a:xfrm>
              <a:off x="8459928" y="4354782"/>
              <a:ext cx="228646" cy="324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 dirty="0"/>
            </a:p>
          </p:txBody>
        </p:sp>
        <p:sp>
          <p:nvSpPr>
            <p:cNvPr id="21" name="Rectangle 51"/>
            <p:cNvSpPr>
              <a:spLocks noChangeArrowheads="1"/>
            </p:cNvSpPr>
            <p:nvPr/>
          </p:nvSpPr>
          <p:spPr bwMode="auto">
            <a:xfrm>
              <a:off x="8459928" y="4278326"/>
              <a:ext cx="228646" cy="324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2" name="Rectangle 52"/>
            <p:cNvSpPr>
              <a:spLocks noChangeArrowheads="1"/>
            </p:cNvSpPr>
            <p:nvPr/>
          </p:nvSpPr>
          <p:spPr bwMode="auto">
            <a:xfrm>
              <a:off x="8459928" y="4201870"/>
              <a:ext cx="228646" cy="339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3" name="Rectangle 53"/>
            <p:cNvSpPr>
              <a:spLocks noChangeArrowheads="1"/>
            </p:cNvSpPr>
            <p:nvPr/>
          </p:nvSpPr>
          <p:spPr bwMode="auto">
            <a:xfrm>
              <a:off x="8459928" y="4124694"/>
              <a:ext cx="228646" cy="346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7075170" y="-628650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13"/>
              <a:t>延迟符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F39C1E-8220-D095-3600-B3DF7882E8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35" y="968120"/>
            <a:ext cx="6218333" cy="3659297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A726E0C2-0657-C4FE-033B-B67BE326E824}"/>
              </a:ext>
            </a:extLst>
          </p:cNvPr>
          <p:cNvGrpSpPr/>
          <p:nvPr/>
        </p:nvGrpSpPr>
        <p:grpSpPr>
          <a:xfrm>
            <a:off x="6806483" y="1348556"/>
            <a:ext cx="2215333" cy="393016"/>
            <a:chOff x="4717143" y="762772"/>
            <a:chExt cx="5760000" cy="720000"/>
          </a:xfrm>
        </p:grpSpPr>
        <p:sp>
          <p:nvSpPr>
            <p:cNvPr id="11" name="圆角矩形 6">
              <a:extLst>
                <a:ext uri="{FF2B5EF4-FFF2-40B4-BE49-F238E27FC236}">
                  <a16:creationId xmlns:a16="http://schemas.microsoft.com/office/drawing/2014/main" id="{CD11722A-6F58-8F2E-EB96-C0FB8EC40028}"/>
                </a:ext>
              </a:extLst>
            </p:cNvPr>
            <p:cNvSpPr/>
            <p:nvPr/>
          </p:nvSpPr>
          <p:spPr>
            <a:xfrm>
              <a:off x="4717143" y="762772"/>
              <a:ext cx="5760000" cy="72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5EE0252-78E4-F330-B062-A23C3C8332DF}"/>
                </a:ext>
              </a:extLst>
            </p:cNvPr>
            <p:cNvSpPr txBox="1"/>
            <p:nvPr/>
          </p:nvSpPr>
          <p:spPr>
            <a:xfrm>
              <a:off x="5007424" y="827315"/>
              <a:ext cx="1231703" cy="507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C145826-0AEA-0489-1484-6A1B4700CB7C}"/>
                </a:ext>
              </a:extLst>
            </p:cNvPr>
            <p:cNvSpPr txBox="1"/>
            <p:nvPr/>
          </p:nvSpPr>
          <p:spPr>
            <a:xfrm>
              <a:off x="6558831" y="868848"/>
              <a:ext cx="3078108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配电柜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B208065-A909-0E2D-24F3-574BCC7B614F}"/>
              </a:ext>
            </a:extLst>
          </p:cNvPr>
          <p:cNvGrpSpPr/>
          <p:nvPr/>
        </p:nvGrpSpPr>
        <p:grpSpPr>
          <a:xfrm>
            <a:off x="6806483" y="1828672"/>
            <a:ext cx="2215333" cy="393016"/>
            <a:chOff x="4717143" y="762772"/>
            <a:chExt cx="5760000" cy="720000"/>
          </a:xfrm>
        </p:grpSpPr>
        <p:sp>
          <p:nvSpPr>
            <p:cNvPr id="27" name="圆角矩形 6">
              <a:extLst>
                <a:ext uri="{FF2B5EF4-FFF2-40B4-BE49-F238E27FC236}">
                  <a16:creationId xmlns:a16="http://schemas.microsoft.com/office/drawing/2014/main" id="{0D5F9003-59E3-D357-764C-4351031A88D7}"/>
                </a:ext>
              </a:extLst>
            </p:cNvPr>
            <p:cNvSpPr/>
            <p:nvPr/>
          </p:nvSpPr>
          <p:spPr>
            <a:xfrm>
              <a:off x="4717143" y="762772"/>
              <a:ext cx="5760000" cy="72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D86C9E8-55D8-1FD0-E9FB-AD0F13F5D217}"/>
                </a:ext>
              </a:extLst>
            </p:cNvPr>
            <p:cNvSpPr txBox="1"/>
            <p:nvPr/>
          </p:nvSpPr>
          <p:spPr>
            <a:xfrm>
              <a:off x="5007424" y="827315"/>
              <a:ext cx="1231703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39A5BE7-D14D-767A-219F-4CF268CD768A}"/>
                </a:ext>
              </a:extLst>
            </p:cNvPr>
            <p:cNvSpPr txBox="1"/>
            <p:nvPr/>
          </p:nvSpPr>
          <p:spPr>
            <a:xfrm>
              <a:off x="6558831" y="868848"/>
              <a:ext cx="3078108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布卷放送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FD30178-E6E1-ACAC-CDD3-F9B707B9FC77}"/>
              </a:ext>
            </a:extLst>
          </p:cNvPr>
          <p:cNvGrpSpPr/>
          <p:nvPr/>
        </p:nvGrpSpPr>
        <p:grpSpPr>
          <a:xfrm>
            <a:off x="6846439" y="2308788"/>
            <a:ext cx="2215333" cy="393016"/>
            <a:chOff x="4717143" y="762772"/>
            <a:chExt cx="5760000" cy="720000"/>
          </a:xfrm>
        </p:grpSpPr>
        <p:sp>
          <p:nvSpPr>
            <p:cNvPr id="31" name="圆角矩形 6">
              <a:extLst>
                <a:ext uri="{FF2B5EF4-FFF2-40B4-BE49-F238E27FC236}">
                  <a16:creationId xmlns:a16="http://schemas.microsoft.com/office/drawing/2014/main" id="{B8C81F25-9042-89CF-80B4-593D06E8CF77}"/>
                </a:ext>
              </a:extLst>
            </p:cNvPr>
            <p:cNvSpPr/>
            <p:nvPr/>
          </p:nvSpPr>
          <p:spPr>
            <a:xfrm>
              <a:off x="4717143" y="762772"/>
              <a:ext cx="5760000" cy="72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8481A7F-B3AD-7F77-BF3C-B742184A96D6}"/>
                </a:ext>
              </a:extLst>
            </p:cNvPr>
            <p:cNvSpPr txBox="1"/>
            <p:nvPr/>
          </p:nvSpPr>
          <p:spPr>
            <a:xfrm>
              <a:off x="5007424" y="827315"/>
              <a:ext cx="1231703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71211C3-CA9C-A376-BAB6-75D781FE4CEE}"/>
                </a:ext>
              </a:extLst>
            </p:cNvPr>
            <p:cNvSpPr txBox="1"/>
            <p:nvPr/>
          </p:nvSpPr>
          <p:spPr>
            <a:xfrm>
              <a:off x="6558831" y="868848"/>
              <a:ext cx="3078108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打孔</a:t>
              </a:r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切断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42DE2BC-D636-33A0-C179-CE222C64028E}"/>
              </a:ext>
            </a:extLst>
          </p:cNvPr>
          <p:cNvGrpSpPr/>
          <p:nvPr/>
        </p:nvGrpSpPr>
        <p:grpSpPr>
          <a:xfrm>
            <a:off x="6846439" y="2788904"/>
            <a:ext cx="2215333" cy="393016"/>
            <a:chOff x="4717143" y="762772"/>
            <a:chExt cx="5760000" cy="720000"/>
          </a:xfrm>
        </p:grpSpPr>
        <p:sp>
          <p:nvSpPr>
            <p:cNvPr id="35" name="圆角矩形 6">
              <a:extLst>
                <a:ext uri="{FF2B5EF4-FFF2-40B4-BE49-F238E27FC236}">
                  <a16:creationId xmlns:a16="http://schemas.microsoft.com/office/drawing/2014/main" id="{A2BD3E94-8111-BB30-8626-CA4D2D694D71}"/>
                </a:ext>
              </a:extLst>
            </p:cNvPr>
            <p:cNvSpPr/>
            <p:nvPr/>
          </p:nvSpPr>
          <p:spPr>
            <a:xfrm>
              <a:off x="4717143" y="762772"/>
              <a:ext cx="5760000" cy="72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591E563-94C3-CA23-BC58-02B9619D8886}"/>
                </a:ext>
              </a:extLst>
            </p:cNvPr>
            <p:cNvSpPr txBox="1"/>
            <p:nvPr/>
          </p:nvSpPr>
          <p:spPr>
            <a:xfrm>
              <a:off x="5007424" y="827315"/>
              <a:ext cx="1231703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F0F5928-1FD1-C9E2-3ED1-461958758C68}"/>
                </a:ext>
              </a:extLst>
            </p:cNvPr>
            <p:cNvSpPr txBox="1"/>
            <p:nvPr/>
          </p:nvSpPr>
          <p:spPr>
            <a:xfrm>
              <a:off x="6558831" y="868848"/>
              <a:ext cx="3078108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袋底打开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70D4986-6C16-F05D-C3CD-263DB0282642}"/>
              </a:ext>
            </a:extLst>
          </p:cNvPr>
          <p:cNvGrpSpPr/>
          <p:nvPr/>
        </p:nvGrpSpPr>
        <p:grpSpPr>
          <a:xfrm>
            <a:off x="6846439" y="3274061"/>
            <a:ext cx="2215333" cy="393016"/>
            <a:chOff x="4717143" y="762772"/>
            <a:chExt cx="5760000" cy="720000"/>
          </a:xfrm>
        </p:grpSpPr>
        <p:sp>
          <p:nvSpPr>
            <p:cNvPr id="39" name="圆角矩形 6">
              <a:extLst>
                <a:ext uri="{FF2B5EF4-FFF2-40B4-BE49-F238E27FC236}">
                  <a16:creationId xmlns:a16="http://schemas.microsoft.com/office/drawing/2014/main" id="{D9A37E75-9D42-7013-A774-9D05389C016C}"/>
                </a:ext>
              </a:extLst>
            </p:cNvPr>
            <p:cNvSpPr/>
            <p:nvPr/>
          </p:nvSpPr>
          <p:spPr>
            <a:xfrm>
              <a:off x="4717143" y="762772"/>
              <a:ext cx="5760000" cy="72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77D59E3-92B8-D16F-8A3F-4D4FD58E87A2}"/>
                </a:ext>
              </a:extLst>
            </p:cNvPr>
            <p:cNvSpPr txBox="1"/>
            <p:nvPr/>
          </p:nvSpPr>
          <p:spPr>
            <a:xfrm>
              <a:off x="5007424" y="827315"/>
              <a:ext cx="1231703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  <a:endPara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B1CAECA-7808-FB61-D0E8-1DBC7E4C9857}"/>
                </a:ext>
              </a:extLst>
            </p:cNvPr>
            <p:cNvSpPr txBox="1"/>
            <p:nvPr/>
          </p:nvSpPr>
          <p:spPr>
            <a:xfrm>
              <a:off x="6558831" y="868848"/>
              <a:ext cx="3078108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阀口成型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6CD74A0-40EC-600D-9EBE-562589D12A1C}"/>
              </a:ext>
            </a:extLst>
          </p:cNvPr>
          <p:cNvGrpSpPr/>
          <p:nvPr/>
        </p:nvGrpSpPr>
        <p:grpSpPr>
          <a:xfrm>
            <a:off x="6846439" y="3739473"/>
            <a:ext cx="2215333" cy="393016"/>
            <a:chOff x="4717143" y="762772"/>
            <a:chExt cx="5760000" cy="720000"/>
          </a:xfrm>
        </p:grpSpPr>
        <p:sp>
          <p:nvSpPr>
            <p:cNvPr id="43" name="圆角矩形 6">
              <a:extLst>
                <a:ext uri="{FF2B5EF4-FFF2-40B4-BE49-F238E27FC236}">
                  <a16:creationId xmlns:a16="http://schemas.microsoft.com/office/drawing/2014/main" id="{2A1AEDB1-1FCF-EBCC-C517-66548F972C89}"/>
                </a:ext>
              </a:extLst>
            </p:cNvPr>
            <p:cNvSpPr/>
            <p:nvPr/>
          </p:nvSpPr>
          <p:spPr>
            <a:xfrm>
              <a:off x="4717143" y="762772"/>
              <a:ext cx="5760000" cy="72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8B0938F-0F9A-6E16-3C90-7913CAFD8476}"/>
                </a:ext>
              </a:extLst>
            </p:cNvPr>
            <p:cNvSpPr txBox="1"/>
            <p:nvPr/>
          </p:nvSpPr>
          <p:spPr>
            <a:xfrm>
              <a:off x="5007424" y="827315"/>
              <a:ext cx="1231703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06</a:t>
              </a:r>
              <a:endPara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1E5166B-98A6-438E-2B7A-C42EE028A565}"/>
                </a:ext>
              </a:extLst>
            </p:cNvPr>
            <p:cNvSpPr txBox="1"/>
            <p:nvPr/>
          </p:nvSpPr>
          <p:spPr>
            <a:xfrm>
              <a:off x="6558831" y="868848"/>
              <a:ext cx="3078108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袋底闭合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5364094-C48C-855A-9F44-BA9320C54000}"/>
              </a:ext>
            </a:extLst>
          </p:cNvPr>
          <p:cNvGrpSpPr/>
          <p:nvPr/>
        </p:nvGrpSpPr>
        <p:grpSpPr>
          <a:xfrm>
            <a:off x="6846439" y="4211400"/>
            <a:ext cx="2215333" cy="393016"/>
            <a:chOff x="4717143" y="762772"/>
            <a:chExt cx="5760000" cy="720000"/>
          </a:xfrm>
        </p:grpSpPr>
        <p:sp>
          <p:nvSpPr>
            <p:cNvPr id="47" name="圆角矩形 6">
              <a:extLst>
                <a:ext uri="{FF2B5EF4-FFF2-40B4-BE49-F238E27FC236}">
                  <a16:creationId xmlns:a16="http://schemas.microsoft.com/office/drawing/2014/main" id="{6BE85009-700A-D7A1-6DFC-D245FF4FE929}"/>
                </a:ext>
              </a:extLst>
            </p:cNvPr>
            <p:cNvSpPr/>
            <p:nvPr/>
          </p:nvSpPr>
          <p:spPr>
            <a:xfrm>
              <a:off x="4717143" y="762772"/>
              <a:ext cx="5760000" cy="72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C9249C16-DE93-DCFC-3B81-BAF412A12AE2}"/>
                </a:ext>
              </a:extLst>
            </p:cNvPr>
            <p:cNvSpPr txBox="1"/>
            <p:nvPr/>
          </p:nvSpPr>
          <p:spPr>
            <a:xfrm>
              <a:off x="5007424" y="827315"/>
              <a:ext cx="1231703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07</a:t>
              </a:r>
              <a:endPara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5C4CCA67-8E70-3A7D-23A5-C700620EBD86}"/>
                </a:ext>
              </a:extLst>
            </p:cNvPr>
            <p:cNvSpPr txBox="1"/>
            <p:nvPr/>
          </p:nvSpPr>
          <p:spPr>
            <a:xfrm>
              <a:off x="6558831" y="868848"/>
              <a:ext cx="3078108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贴底贴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782E1791-691D-1658-6CAE-526E6EB1E4C8}"/>
              </a:ext>
            </a:extLst>
          </p:cNvPr>
          <p:cNvGrpSpPr/>
          <p:nvPr/>
        </p:nvGrpSpPr>
        <p:grpSpPr>
          <a:xfrm>
            <a:off x="6896089" y="4682914"/>
            <a:ext cx="2215333" cy="393016"/>
            <a:chOff x="4717143" y="762772"/>
            <a:chExt cx="5760000" cy="720000"/>
          </a:xfrm>
        </p:grpSpPr>
        <p:sp>
          <p:nvSpPr>
            <p:cNvPr id="51" name="圆角矩形 6">
              <a:extLst>
                <a:ext uri="{FF2B5EF4-FFF2-40B4-BE49-F238E27FC236}">
                  <a16:creationId xmlns:a16="http://schemas.microsoft.com/office/drawing/2014/main" id="{9BF08365-A814-3016-F2D6-875A56779560}"/>
                </a:ext>
              </a:extLst>
            </p:cNvPr>
            <p:cNvSpPr/>
            <p:nvPr/>
          </p:nvSpPr>
          <p:spPr>
            <a:xfrm>
              <a:off x="4717143" y="762772"/>
              <a:ext cx="5760000" cy="72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4A3AF48-0ECF-E250-1091-C44BC506169B}"/>
                </a:ext>
              </a:extLst>
            </p:cNvPr>
            <p:cNvSpPr txBox="1"/>
            <p:nvPr/>
          </p:nvSpPr>
          <p:spPr>
            <a:xfrm>
              <a:off x="5007424" y="827315"/>
              <a:ext cx="1231703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08</a:t>
              </a:r>
              <a:endPara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FCFD4C90-8E71-70AF-BD27-9CA51E320E2A}"/>
                </a:ext>
              </a:extLst>
            </p:cNvPr>
            <p:cNvSpPr txBox="1"/>
            <p:nvPr/>
          </p:nvSpPr>
          <p:spPr>
            <a:xfrm>
              <a:off x="6558831" y="868848"/>
              <a:ext cx="3078108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成品袋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3191C52-4E22-B4AA-8720-25B93235D60E}"/>
              </a:ext>
            </a:extLst>
          </p:cNvPr>
          <p:cNvGrpSpPr/>
          <p:nvPr/>
        </p:nvGrpSpPr>
        <p:grpSpPr>
          <a:xfrm>
            <a:off x="4469252" y="4718145"/>
            <a:ext cx="2215333" cy="393016"/>
            <a:chOff x="4717143" y="762772"/>
            <a:chExt cx="5760000" cy="720000"/>
          </a:xfrm>
        </p:grpSpPr>
        <p:sp>
          <p:nvSpPr>
            <p:cNvPr id="55" name="圆角矩形 6">
              <a:extLst>
                <a:ext uri="{FF2B5EF4-FFF2-40B4-BE49-F238E27FC236}">
                  <a16:creationId xmlns:a16="http://schemas.microsoft.com/office/drawing/2014/main" id="{2A2C505A-078C-44FA-4628-994BD0A797D4}"/>
                </a:ext>
              </a:extLst>
            </p:cNvPr>
            <p:cNvSpPr/>
            <p:nvPr/>
          </p:nvSpPr>
          <p:spPr>
            <a:xfrm>
              <a:off x="4717143" y="762772"/>
              <a:ext cx="5760000" cy="72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8E0FF54-25CD-08A9-2DA6-A4047C00757C}"/>
                </a:ext>
              </a:extLst>
            </p:cNvPr>
            <p:cNvSpPr txBox="1"/>
            <p:nvPr/>
          </p:nvSpPr>
          <p:spPr>
            <a:xfrm>
              <a:off x="5007424" y="827315"/>
              <a:ext cx="1231703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09</a:t>
              </a:r>
              <a:endPara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F501F9A-3E20-71B2-C035-CB36635F4A24}"/>
                </a:ext>
              </a:extLst>
            </p:cNvPr>
            <p:cNvSpPr txBox="1"/>
            <p:nvPr/>
          </p:nvSpPr>
          <p:spPr>
            <a:xfrm>
              <a:off x="6558831" y="868848"/>
              <a:ext cx="3078108" cy="56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成品袋收集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165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461875" y="317305"/>
            <a:ext cx="1957076" cy="4154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经典综艺体简" panose="02010609000101010101" pitchFamily="49" charset="-122"/>
              </a:rPr>
              <a:t>主要参数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3" cstate="print"/>
          <a:srcRect l="20447" t="3056" r="1" b="3056"/>
          <a:stretch>
            <a:fillRect/>
          </a:stretch>
        </p:blipFill>
        <p:spPr>
          <a:xfrm>
            <a:off x="1083979" y="343446"/>
            <a:ext cx="377894" cy="402839"/>
          </a:xfrm>
          <a:prstGeom prst="rect">
            <a:avLst/>
          </a:prstGeom>
        </p:spPr>
      </p:pic>
      <p:sp>
        <p:nvSpPr>
          <p:cNvPr id="39" name="文本框 11"/>
          <p:cNvSpPr txBox="1"/>
          <p:nvPr/>
        </p:nvSpPr>
        <p:spPr>
          <a:xfrm>
            <a:off x="524363" y="867766"/>
            <a:ext cx="2366353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速度：最高</a:t>
            </a:r>
            <a:r>
              <a:rPr lang="en-US" altLang="zh-CN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</a:t>
            </a:r>
            <a:r>
              <a:rPr lang="zh-CN" altLang="en-US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</a:p>
        </p:txBody>
      </p:sp>
      <p:sp>
        <p:nvSpPr>
          <p:cNvPr id="40" name="矩形 39"/>
          <p:cNvSpPr/>
          <p:nvPr/>
        </p:nvSpPr>
        <p:spPr>
          <a:xfrm>
            <a:off x="617642" y="1193124"/>
            <a:ext cx="3171575" cy="446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根据袋子规格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、速度、面料情况、操作工熟练程度，正常在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90-115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条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分钟，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24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小时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10-15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万条。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文本框 11"/>
          <p:cNvSpPr txBox="1"/>
          <p:nvPr/>
        </p:nvSpPr>
        <p:spPr>
          <a:xfrm>
            <a:off x="524363" y="1734792"/>
            <a:ext cx="1242648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成品袋规格</a:t>
            </a:r>
          </a:p>
        </p:txBody>
      </p:sp>
      <p:sp>
        <p:nvSpPr>
          <p:cNvPr id="42" name="矩形 41"/>
          <p:cNvSpPr/>
          <p:nvPr/>
        </p:nvSpPr>
        <p:spPr>
          <a:xfrm>
            <a:off x="533469" y="2210219"/>
            <a:ext cx="4167015" cy="4827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正常：袋长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450-910mm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袋宽：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350-600mm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底宽：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80-160mm</a:t>
            </a:r>
          </a:p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小规格：袋长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380-720mm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袋宽：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250-600mm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底宽：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80-110mm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文本框 11"/>
          <p:cNvSpPr txBox="1"/>
          <p:nvPr/>
        </p:nvSpPr>
        <p:spPr>
          <a:xfrm>
            <a:off x="533469" y="2799013"/>
            <a:ext cx="819455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用电量</a:t>
            </a:r>
          </a:p>
        </p:txBody>
      </p:sp>
      <p:sp>
        <p:nvSpPr>
          <p:cNvPr id="44" name="矩形 43"/>
          <p:cNvSpPr/>
          <p:nvPr/>
        </p:nvSpPr>
        <p:spPr>
          <a:xfrm>
            <a:off x="583004" y="3188422"/>
            <a:ext cx="2368014" cy="2698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总装机：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120kw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。实际：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85KW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47"/>
          <p:cNvSpPr>
            <a:spLocks noChangeArrowheads="1"/>
          </p:cNvSpPr>
          <p:nvPr/>
        </p:nvSpPr>
        <p:spPr bwMode="auto">
          <a:xfrm>
            <a:off x="6244911" y="3322443"/>
            <a:ext cx="2538483" cy="2415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lIns="51430" tIns="25715" rIns="51430" bIns="25715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个操作工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+4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个后续收袋工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2" name="矩形 3"/>
          <p:cNvSpPr>
            <a:spLocks noChangeArrowheads="1"/>
          </p:cNvSpPr>
          <p:nvPr/>
        </p:nvSpPr>
        <p:spPr bwMode="auto">
          <a:xfrm>
            <a:off x="5704389" y="3308178"/>
            <a:ext cx="527057" cy="305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1430" tIns="25715" rIns="51430" bIns="25715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用人</a:t>
            </a:r>
            <a:endParaRPr lang="zh-CN" altLang="en-US" sz="165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 descr="图片包含 窗户, 桌子, 大, 照片&#10;&#10;描述已自动生成">
            <a:extLst>
              <a:ext uri="{FF2B5EF4-FFF2-40B4-BE49-F238E27FC236}">
                <a16:creationId xmlns:a16="http://schemas.microsoft.com/office/drawing/2014/main" id="{F1A04E76-3917-1AE2-7FA3-3049C56198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77069"/>
            <a:ext cx="4073724" cy="1989341"/>
          </a:xfrm>
          <a:prstGeom prst="rect">
            <a:avLst/>
          </a:prstGeom>
        </p:spPr>
      </p:pic>
      <p:sp>
        <p:nvSpPr>
          <p:cNvPr id="3" name="矩形 3">
            <a:extLst>
              <a:ext uri="{FF2B5EF4-FFF2-40B4-BE49-F238E27FC236}">
                <a16:creationId xmlns:a16="http://schemas.microsoft.com/office/drawing/2014/main" id="{8A581BF4-F55C-BF32-CB4D-C67EF0D84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86" y="4004609"/>
            <a:ext cx="738654" cy="305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1430" tIns="25715" rIns="51430" bIns="25715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废品率</a:t>
            </a:r>
            <a:endParaRPr lang="zh-CN" altLang="en-US" sz="165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47">
            <a:extLst>
              <a:ext uri="{FF2B5EF4-FFF2-40B4-BE49-F238E27FC236}">
                <a16:creationId xmlns:a16="http://schemas.microsoft.com/office/drawing/2014/main" id="{E33F099D-3926-BB80-821D-08FB2AC42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240" y="4036765"/>
            <a:ext cx="2538483" cy="2415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lIns="51430" tIns="25715" rIns="51430" bIns="25715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合同签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3%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，实际在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1.5%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以内。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11">
            <a:extLst>
              <a:ext uri="{FF2B5EF4-FFF2-40B4-BE49-F238E27FC236}">
                <a16:creationId xmlns:a16="http://schemas.microsoft.com/office/drawing/2014/main" id="{CC4AD614-E450-0112-B41A-EDA1D9D49EFE}"/>
              </a:ext>
            </a:extLst>
          </p:cNvPr>
          <p:cNvSpPr txBox="1"/>
          <p:nvPr/>
        </p:nvSpPr>
        <p:spPr>
          <a:xfrm>
            <a:off x="5673288" y="3788334"/>
            <a:ext cx="607859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袋型</a:t>
            </a:r>
          </a:p>
        </p:txBody>
      </p:sp>
      <p:sp>
        <p:nvSpPr>
          <p:cNvPr id="6" name="矩形 47">
            <a:extLst>
              <a:ext uri="{FF2B5EF4-FFF2-40B4-BE49-F238E27FC236}">
                <a16:creationId xmlns:a16="http://schemas.microsoft.com/office/drawing/2014/main" id="{65339042-1BFF-3ED1-AED5-3CF188086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911" y="3841802"/>
            <a:ext cx="2538483" cy="2415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lIns="51430" tIns="25715" rIns="51430" bIns="25715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方底阀口袋和敞口袋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48F80D27-9DDA-6038-830E-8122DFC34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624" y="2626453"/>
            <a:ext cx="950250" cy="305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1430" tIns="25715" rIns="51430" bIns="25715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设备尺寸</a:t>
            </a:r>
            <a:endParaRPr lang="zh-CN" altLang="en-US" sz="165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47">
            <a:extLst>
              <a:ext uri="{FF2B5EF4-FFF2-40B4-BE49-F238E27FC236}">
                <a16:creationId xmlns:a16="http://schemas.microsoft.com/office/drawing/2014/main" id="{BD257A13-0724-9BBF-988A-0FBE622C3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389" y="2960684"/>
            <a:ext cx="2538483" cy="2415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lIns="51430" tIns="25715" rIns="51430" bIns="25715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15x9x2.3m</a:t>
            </a:r>
          </a:p>
        </p:txBody>
      </p:sp>
      <p:sp>
        <p:nvSpPr>
          <p:cNvPr id="9" name="文本框 11">
            <a:extLst>
              <a:ext uri="{FF2B5EF4-FFF2-40B4-BE49-F238E27FC236}">
                <a16:creationId xmlns:a16="http://schemas.microsoft.com/office/drawing/2014/main" id="{7067C0B4-BE4B-6AB3-5FEE-DF34A81DC3F6}"/>
              </a:ext>
            </a:extLst>
          </p:cNvPr>
          <p:cNvSpPr txBox="1"/>
          <p:nvPr/>
        </p:nvSpPr>
        <p:spPr>
          <a:xfrm>
            <a:off x="5242587" y="4407892"/>
            <a:ext cx="1242648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集装箱使用</a:t>
            </a:r>
          </a:p>
        </p:txBody>
      </p:sp>
      <p:sp>
        <p:nvSpPr>
          <p:cNvPr id="10" name="矩形 47">
            <a:extLst>
              <a:ext uri="{FF2B5EF4-FFF2-40B4-BE49-F238E27FC236}">
                <a16:creationId xmlns:a16="http://schemas.microsoft.com/office/drawing/2014/main" id="{1F9520D2-A908-E4C1-23D3-2D14DB6C4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194" y="4470241"/>
            <a:ext cx="2228530" cy="2415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lIns="51430" tIns="25715" rIns="51430" bIns="25715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2x40HQ+1X20GP</a:t>
            </a: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FD2E3FE1-B65B-4AD6-F8D2-0FF1FC099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86" y="4448293"/>
            <a:ext cx="950250" cy="305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1430" tIns="25715" rIns="51430" bIns="25715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安装调试</a:t>
            </a:r>
            <a:endParaRPr lang="zh-CN" altLang="en-US" sz="165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7">
            <a:extLst>
              <a:ext uri="{FF2B5EF4-FFF2-40B4-BE49-F238E27FC236}">
                <a16:creationId xmlns:a16="http://schemas.microsoft.com/office/drawing/2014/main" id="{BC93B1B4-E125-4BCE-C88B-12D629320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474" y="4480449"/>
            <a:ext cx="2538483" cy="2415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lIns="51430" tIns="25715" rIns="51430" bIns="25715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自开始安装大约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天可以试机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文本框 11">
            <a:extLst>
              <a:ext uri="{FF2B5EF4-FFF2-40B4-BE49-F238E27FC236}">
                <a16:creationId xmlns:a16="http://schemas.microsoft.com/office/drawing/2014/main" id="{E3C53D80-3095-5BC4-032C-B655249CECE2}"/>
              </a:ext>
            </a:extLst>
          </p:cNvPr>
          <p:cNvSpPr txBox="1"/>
          <p:nvPr/>
        </p:nvSpPr>
        <p:spPr>
          <a:xfrm>
            <a:off x="533469" y="3553796"/>
            <a:ext cx="607859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ADED63-0CCC-3A90-38EE-323161B66C6E}"/>
              </a:ext>
            </a:extLst>
          </p:cNvPr>
          <p:cNvSpPr/>
          <p:nvPr/>
        </p:nvSpPr>
        <p:spPr>
          <a:xfrm>
            <a:off x="1098390" y="3596956"/>
            <a:ext cx="4073724" cy="2698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冷却水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Cooling water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和压缩空气 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Compressor air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分切机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Slitter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24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1" grpId="0"/>
      <p:bldP spid="42" grpId="0" animBg="1"/>
      <p:bldP spid="43" grpId="0"/>
      <p:bldP spid="44" grpId="0" animBg="1"/>
      <p:bldP spid="71" grpId="0" animBg="1"/>
      <p:bldP spid="72" grpId="0"/>
      <p:bldP spid="3" grpId="0"/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09550" y="98806"/>
            <a:ext cx="8368882" cy="539369"/>
            <a:chOff x="279400" y="131741"/>
            <a:chExt cx="11158509" cy="719159"/>
          </a:xfrm>
        </p:grpSpPr>
        <p:grpSp>
          <p:nvGrpSpPr>
            <p:cNvPr id="6" name="组合 5"/>
            <p:cNvGrpSpPr/>
            <p:nvPr/>
          </p:nvGrpSpPr>
          <p:grpSpPr>
            <a:xfrm>
              <a:off x="279400" y="165100"/>
              <a:ext cx="241300" cy="685800"/>
              <a:chOff x="279400" y="165100"/>
              <a:chExt cx="241300" cy="68580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79400" y="165100"/>
                <a:ext cx="101600" cy="6858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19100" y="165100"/>
                <a:ext cx="101600" cy="330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</p:grpSp>
        <p:sp>
          <p:nvSpPr>
            <p:cNvPr id="7" name="TextBox 54"/>
            <p:cNvSpPr txBox="1"/>
            <p:nvPr/>
          </p:nvSpPr>
          <p:spPr>
            <a:xfrm>
              <a:off x="694367" y="131741"/>
              <a:ext cx="50422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2100" dirty="0"/>
                <a:t>视频播放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758853" y="836712"/>
              <a:ext cx="1067905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636933" y="1209025"/>
            <a:ext cx="3586489" cy="3427089"/>
            <a:chOff x="611560" y="1366732"/>
            <a:chExt cx="3587596" cy="3428146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1366732"/>
              <a:ext cx="3587596" cy="3428146"/>
            </a:xfrm>
            <a:prstGeom prst="rect">
              <a:avLst/>
            </a:prstGeom>
          </p:spPr>
        </p:pic>
        <p:sp>
          <p:nvSpPr>
            <p:cNvPr id="12" name="MH_Picture_3"/>
            <p:cNvSpPr/>
            <p:nvPr>
              <p:custDataLst>
                <p:tags r:id="rId2"/>
              </p:custDataLst>
            </p:nvPr>
          </p:nvSpPr>
          <p:spPr>
            <a:xfrm>
              <a:off x="746051" y="1496013"/>
              <a:ext cx="3204000" cy="1946273"/>
            </a:xfrm>
            <a:prstGeom prst="rect">
              <a:avLst/>
            </a:prstGeom>
            <a:blipFill dpi="0" rotWithShape="1">
              <a:blip r:embed="rId6"/>
              <a:stretch>
                <a:fillRect/>
              </a:stretch>
            </a:blip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>
                <a:defRPr/>
              </a:pPr>
              <a:endParaRPr lang="zh-CN" altLang="en-US" sz="1015" kern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MH_SubTitle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98248" y="1217349"/>
            <a:ext cx="3431280" cy="134181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119952" tIns="0" rIns="119952" bIns="0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400" b="1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defTabSz="685800">
              <a:buClr>
                <a:srgbClr val="0065B0"/>
              </a:buClr>
              <a:buNone/>
              <a:defRPr/>
            </a:pPr>
            <a:r>
              <a:rPr lang="zh-CN" altLang="en-US" sz="1500" kern="0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接下来请大家观赏</a:t>
            </a:r>
            <a:r>
              <a:rPr lang="en-US" altLang="zh-CN" sz="1500" kern="0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BVM-120</a:t>
            </a:r>
            <a:r>
              <a:rPr lang="zh-CN" altLang="en-US" sz="1500" kern="0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型方底阀口制袋</a:t>
            </a:r>
            <a:r>
              <a:rPr lang="zh-CN" altLang="en-US" sz="1500" kern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机在用户的</a:t>
            </a:r>
            <a:r>
              <a:rPr lang="zh-CN" altLang="en-US" sz="1500" kern="0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使用视频</a:t>
            </a:r>
          </a:p>
        </p:txBody>
      </p:sp>
      <p:sp>
        <p:nvSpPr>
          <p:cNvPr id="25" name="AutoShape 81"/>
          <p:cNvSpPr/>
          <p:nvPr/>
        </p:nvSpPr>
        <p:spPr bwMode="auto">
          <a:xfrm>
            <a:off x="4771473" y="1344451"/>
            <a:ext cx="315328" cy="23110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782" y="15633"/>
                </a:moveTo>
                <a:cubicBezTo>
                  <a:pt x="11211" y="15633"/>
                  <a:pt x="11622" y="15565"/>
                  <a:pt x="12011" y="15416"/>
                </a:cubicBezTo>
                <a:cubicBezTo>
                  <a:pt x="12403" y="15272"/>
                  <a:pt x="12778" y="15084"/>
                  <a:pt x="13138" y="14855"/>
                </a:cubicBezTo>
                <a:cubicBezTo>
                  <a:pt x="13498" y="14626"/>
                  <a:pt x="13845" y="14361"/>
                  <a:pt x="14181" y="14073"/>
                </a:cubicBezTo>
                <a:cubicBezTo>
                  <a:pt x="14516" y="13774"/>
                  <a:pt x="14844" y="13471"/>
                  <a:pt x="15168" y="13160"/>
                </a:cubicBezTo>
                <a:cubicBezTo>
                  <a:pt x="16142" y="12226"/>
                  <a:pt x="17126" y="11306"/>
                  <a:pt x="18120" y="10410"/>
                </a:cubicBezTo>
                <a:cubicBezTo>
                  <a:pt x="19112" y="9515"/>
                  <a:pt x="20113" y="8616"/>
                  <a:pt x="21120" y="7714"/>
                </a:cubicBezTo>
                <a:cubicBezTo>
                  <a:pt x="21198" y="7640"/>
                  <a:pt x="21279" y="7570"/>
                  <a:pt x="21360" y="7496"/>
                </a:cubicBezTo>
                <a:cubicBezTo>
                  <a:pt x="21443" y="7429"/>
                  <a:pt x="21524" y="7347"/>
                  <a:pt x="21599" y="7250"/>
                </a:cubicBezTo>
                <a:lnTo>
                  <a:pt x="21599" y="19981"/>
                </a:lnTo>
                <a:cubicBezTo>
                  <a:pt x="21599" y="20416"/>
                  <a:pt x="21470" y="20800"/>
                  <a:pt x="21208" y="21118"/>
                </a:cubicBezTo>
                <a:cubicBezTo>
                  <a:pt x="20946" y="21438"/>
                  <a:pt x="20632" y="21599"/>
                  <a:pt x="20265" y="21599"/>
                </a:cubicBezTo>
                <a:lnTo>
                  <a:pt x="1346" y="21599"/>
                </a:lnTo>
                <a:cubicBezTo>
                  <a:pt x="979" y="21599"/>
                  <a:pt x="663" y="21438"/>
                  <a:pt x="396" y="21118"/>
                </a:cubicBezTo>
                <a:cubicBezTo>
                  <a:pt x="132" y="20803"/>
                  <a:pt x="0" y="20419"/>
                  <a:pt x="0" y="19981"/>
                </a:cubicBezTo>
                <a:lnTo>
                  <a:pt x="0" y="7250"/>
                </a:lnTo>
                <a:cubicBezTo>
                  <a:pt x="75" y="7347"/>
                  <a:pt x="156" y="7429"/>
                  <a:pt x="239" y="7496"/>
                </a:cubicBezTo>
                <a:cubicBezTo>
                  <a:pt x="320" y="7570"/>
                  <a:pt x="401" y="7640"/>
                  <a:pt x="479" y="7714"/>
                </a:cubicBezTo>
                <a:cubicBezTo>
                  <a:pt x="1488" y="8616"/>
                  <a:pt x="2487" y="9514"/>
                  <a:pt x="3481" y="10410"/>
                </a:cubicBezTo>
                <a:cubicBezTo>
                  <a:pt x="4473" y="11306"/>
                  <a:pt x="5457" y="12223"/>
                  <a:pt x="6434" y="13160"/>
                </a:cubicBezTo>
                <a:cubicBezTo>
                  <a:pt x="6738" y="13454"/>
                  <a:pt x="7058" y="13744"/>
                  <a:pt x="7394" y="14038"/>
                </a:cubicBezTo>
                <a:cubicBezTo>
                  <a:pt x="7729" y="14338"/>
                  <a:pt x="8079" y="14599"/>
                  <a:pt x="8437" y="14840"/>
                </a:cubicBezTo>
                <a:cubicBezTo>
                  <a:pt x="8797" y="15075"/>
                  <a:pt x="9174" y="15269"/>
                  <a:pt x="9568" y="15413"/>
                </a:cubicBezTo>
                <a:cubicBezTo>
                  <a:pt x="9965" y="15563"/>
                  <a:pt x="10371" y="15633"/>
                  <a:pt x="10782" y="15633"/>
                </a:cubicBezTo>
                <a:moveTo>
                  <a:pt x="10782" y="12413"/>
                </a:moveTo>
                <a:cubicBezTo>
                  <a:pt x="10540" y="12413"/>
                  <a:pt x="10278" y="12334"/>
                  <a:pt x="9996" y="12167"/>
                </a:cubicBezTo>
                <a:cubicBezTo>
                  <a:pt x="9715" y="12005"/>
                  <a:pt x="9441" y="11806"/>
                  <a:pt x="9171" y="11576"/>
                </a:cubicBezTo>
                <a:cubicBezTo>
                  <a:pt x="8900" y="11347"/>
                  <a:pt x="8638" y="11106"/>
                  <a:pt x="8380" y="10854"/>
                </a:cubicBezTo>
                <a:cubicBezTo>
                  <a:pt x="8121" y="10601"/>
                  <a:pt x="7896" y="10390"/>
                  <a:pt x="7700" y="10222"/>
                </a:cubicBezTo>
                <a:cubicBezTo>
                  <a:pt x="6752" y="9356"/>
                  <a:pt x="5819" y="8507"/>
                  <a:pt x="4891" y="7664"/>
                </a:cubicBezTo>
                <a:cubicBezTo>
                  <a:pt x="3966" y="6815"/>
                  <a:pt x="3023" y="5960"/>
                  <a:pt x="2061" y="5087"/>
                </a:cubicBezTo>
                <a:cubicBezTo>
                  <a:pt x="1882" y="4920"/>
                  <a:pt x="1672" y="4691"/>
                  <a:pt x="1434" y="4406"/>
                </a:cubicBezTo>
                <a:cubicBezTo>
                  <a:pt x="1194" y="4118"/>
                  <a:pt x="974" y="3804"/>
                  <a:pt x="766" y="3460"/>
                </a:cubicBezTo>
                <a:cubicBezTo>
                  <a:pt x="560" y="3110"/>
                  <a:pt x="384" y="2761"/>
                  <a:pt x="239" y="2405"/>
                </a:cubicBezTo>
                <a:cubicBezTo>
                  <a:pt x="95" y="2050"/>
                  <a:pt x="22" y="1724"/>
                  <a:pt x="22" y="1436"/>
                </a:cubicBezTo>
                <a:cubicBezTo>
                  <a:pt x="22" y="1051"/>
                  <a:pt x="164" y="713"/>
                  <a:pt x="443" y="425"/>
                </a:cubicBezTo>
                <a:cubicBezTo>
                  <a:pt x="727" y="143"/>
                  <a:pt x="1025" y="0"/>
                  <a:pt x="1346" y="0"/>
                </a:cubicBezTo>
                <a:lnTo>
                  <a:pt x="20265" y="0"/>
                </a:lnTo>
                <a:cubicBezTo>
                  <a:pt x="20583" y="0"/>
                  <a:pt x="20882" y="143"/>
                  <a:pt x="21161" y="425"/>
                </a:cubicBezTo>
                <a:cubicBezTo>
                  <a:pt x="21438" y="713"/>
                  <a:pt x="21577" y="1051"/>
                  <a:pt x="21577" y="1436"/>
                </a:cubicBezTo>
                <a:cubicBezTo>
                  <a:pt x="21577" y="1724"/>
                  <a:pt x="21504" y="2050"/>
                  <a:pt x="21360" y="2405"/>
                </a:cubicBezTo>
                <a:cubicBezTo>
                  <a:pt x="21215" y="2761"/>
                  <a:pt x="21039" y="3110"/>
                  <a:pt x="20833" y="3460"/>
                </a:cubicBezTo>
                <a:cubicBezTo>
                  <a:pt x="20627" y="3804"/>
                  <a:pt x="20402" y="4121"/>
                  <a:pt x="20165" y="4406"/>
                </a:cubicBezTo>
                <a:cubicBezTo>
                  <a:pt x="19927" y="4691"/>
                  <a:pt x="19717" y="4923"/>
                  <a:pt x="19538" y="5087"/>
                </a:cubicBezTo>
                <a:cubicBezTo>
                  <a:pt x="18578" y="5948"/>
                  <a:pt x="17633" y="6803"/>
                  <a:pt x="16708" y="7652"/>
                </a:cubicBezTo>
                <a:cubicBezTo>
                  <a:pt x="15782" y="8501"/>
                  <a:pt x="14844" y="9356"/>
                  <a:pt x="13899" y="10222"/>
                </a:cubicBezTo>
                <a:cubicBezTo>
                  <a:pt x="13703" y="10390"/>
                  <a:pt x="13481" y="10601"/>
                  <a:pt x="13226" y="10854"/>
                </a:cubicBezTo>
                <a:cubicBezTo>
                  <a:pt x="12971" y="11106"/>
                  <a:pt x="12709" y="11347"/>
                  <a:pt x="12435" y="11576"/>
                </a:cubicBezTo>
                <a:cubicBezTo>
                  <a:pt x="12161" y="11806"/>
                  <a:pt x="11884" y="12005"/>
                  <a:pt x="11603" y="12167"/>
                </a:cubicBezTo>
                <a:cubicBezTo>
                  <a:pt x="11321" y="12334"/>
                  <a:pt x="11064" y="12413"/>
                  <a:pt x="10829" y="12413"/>
                </a:cubicBezTo>
                <a:lnTo>
                  <a:pt x="10804" y="12413"/>
                </a:lnTo>
                <a:lnTo>
                  <a:pt x="10782" y="12413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4288" tIns="14288" rIns="14288" bIns="14288" anchor="ctr"/>
          <a:lstStyle/>
          <a:p>
            <a:pPr defTabSz="128270">
              <a:defRPr/>
            </a:pPr>
            <a:endParaRPr lang="es-ES" sz="825" kern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/>
              <a:cs typeface="Gill Sans"/>
              <a:sym typeface="Gill Sans"/>
            </a:endParaRPr>
          </a:p>
        </p:txBody>
      </p:sp>
      <p:sp>
        <p:nvSpPr>
          <p:cNvPr id="28" name="Oval 13"/>
          <p:cNvSpPr/>
          <p:nvPr/>
        </p:nvSpPr>
        <p:spPr>
          <a:xfrm>
            <a:off x="4700955" y="1161523"/>
            <a:ext cx="596807" cy="596962"/>
          </a:xfrm>
          <a:prstGeom prst="ellipse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>
            <a:outerShdw blurRad="254000" dist="152400" dir="2700000" algn="tl" rotWithShape="0">
              <a:prstClr val="black">
                <a:alpha val="6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 defTabSz="685800">
              <a:defRPr/>
            </a:pPr>
            <a:endParaRPr lang="en-US" sz="1650" kern="0">
              <a:solidFill>
                <a:srgbClr val="FFFFFF"/>
              </a:solidFill>
              <a:latin typeface="微软雅黑" panose="020B0503020204020204" pitchFamily="34" charset="-122"/>
              <a:cs typeface="Aparajita" panose="020B0604020202020204" pitchFamily="34" charset="0"/>
            </a:endParaRPr>
          </a:p>
        </p:txBody>
      </p:sp>
      <p:sp>
        <p:nvSpPr>
          <p:cNvPr id="29" name="AutoShape 131"/>
          <p:cNvSpPr>
            <a:spLocks noChangeAspect="1"/>
          </p:cNvSpPr>
          <p:nvPr/>
        </p:nvSpPr>
        <p:spPr bwMode="auto">
          <a:xfrm>
            <a:off x="4871959" y="1336556"/>
            <a:ext cx="245003" cy="239002"/>
          </a:xfrm>
          <a:custGeom>
            <a:avLst/>
            <a:gdLst>
              <a:gd name="T0" fmla="*/ 10800 w 21600"/>
              <a:gd name="T1" fmla="+- 0 10800 114"/>
              <a:gd name="T2" fmla="*/ 10800 h 21373"/>
              <a:gd name="T3" fmla="*/ 10800 w 21600"/>
              <a:gd name="T4" fmla="+- 0 10800 114"/>
              <a:gd name="T5" fmla="*/ 10800 h 21373"/>
              <a:gd name="T6" fmla="*/ 10800 w 21600"/>
              <a:gd name="T7" fmla="+- 0 10800 114"/>
              <a:gd name="T8" fmla="*/ 10800 h 21373"/>
              <a:gd name="T9" fmla="*/ 10800 w 21600"/>
              <a:gd name="T10" fmla="+- 0 10800 114"/>
              <a:gd name="T11" fmla="*/ 10800 h 21373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21600" h="21373">
                <a:moveTo>
                  <a:pt x="13251" y="718"/>
                </a:moveTo>
                <a:cubicBezTo>
                  <a:pt x="13802" y="111"/>
                  <a:pt x="14278" y="-114"/>
                  <a:pt x="14670" y="54"/>
                </a:cubicBezTo>
                <a:cubicBezTo>
                  <a:pt x="15062" y="219"/>
                  <a:pt x="15263" y="737"/>
                  <a:pt x="15263" y="1596"/>
                </a:cubicBezTo>
                <a:lnTo>
                  <a:pt x="15263" y="19775"/>
                </a:lnTo>
                <a:cubicBezTo>
                  <a:pt x="15263" y="20634"/>
                  <a:pt x="15065" y="21152"/>
                  <a:pt x="14681" y="21320"/>
                </a:cubicBezTo>
                <a:cubicBezTo>
                  <a:pt x="14292" y="21486"/>
                  <a:pt x="13816" y="21264"/>
                  <a:pt x="13251" y="20656"/>
                </a:cubicBezTo>
                <a:lnTo>
                  <a:pt x="7758" y="14803"/>
                </a:lnTo>
                <a:lnTo>
                  <a:pt x="660" y="14803"/>
                </a:lnTo>
                <a:cubicBezTo>
                  <a:pt x="480" y="14803"/>
                  <a:pt x="324" y="14736"/>
                  <a:pt x="194" y="14604"/>
                </a:cubicBezTo>
                <a:cubicBezTo>
                  <a:pt x="67" y="14473"/>
                  <a:pt x="0" y="14304"/>
                  <a:pt x="0" y="14098"/>
                </a:cubicBezTo>
                <a:lnTo>
                  <a:pt x="0" y="7277"/>
                </a:lnTo>
                <a:cubicBezTo>
                  <a:pt x="0" y="7082"/>
                  <a:pt x="67" y="6917"/>
                  <a:pt x="194" y="6778"/>
                </a:cubicBezTo>
                <a:cubicBezTo>
                  <a:pt x="324" y="6643"/>
                  <a:pt x="480" y="6571"/>
                  <a:pt x="660" y="6571"/>
                </a:cubicBezTo>
                <a:lnTo>
                  <a:pt x="7758" y="6571"/>
                </a:lnTo>
                <a:lnTo>
                  <a:pt x="13251" y="718"/>
                </a:lnTo>
                <a:close/>
                <a:moveTo>
                  <a:pt x="18002" y="3322"/>
                </a:moveTo>
                <a:cubicBezTo>
                  <a:pt x="18331" y="3127"/>
                  <a:pt x="18666" y="3086"/>
                  <a:pt x="19023" y="3179"/>
                </a:cubicBezTo>
                <a:cubicBezTo>
                  <a:pt x="19379" y="3273"/>
                  <a:pt x="19654" y="3495"/>
                  <a:pt x="19838" y="3844"/>
                </a:cubicBezTo>
                <a:cubicBezTo>
                  <a:pt x="21017" y="6023"/>
                  <a:pt x="21599" y="8301"/>
                  <a:pt x="21599" y="10687"/>
                </a:cubicBezTo>
                <a:cubicBezTo>
                  <a:pt x="21599" y="13092"/>
                  <a:pt x="21017" y="15373"/>
                  <a:pt x="19838" y="17527"/>
                </a:cubicBezTo>
                <a:cubicBezTo>
                  <a:pt x="19584" y="18018"/>
                  <a:pt x="19189" y="18266"/>
                  <a:pt x="18659" y="18266"/>
                </a:cubicBezTo>
                <a:cubicBezTo>
                  <a:pt x="18437" y="18266"/>
                  <a:pt x="18214" y="18195"/>
                  <a:pt x="17999" y="18049"/>
                </a:cubicBezTo>
                <a:cubicBezTo>
                  <a:pt x="17671" y="17857"/>
                  <a:pt x="17459" y="17572"/>
                  <a:pt x="17353" y="17189"/>
                </a:cubicBezTo>
                <a:cubicBezTo>
                  <a:pt x="17254" y="16807"/>
                  <a:pt x="17289" y="16439"/>
                  <a:pt x="17473" y="16090"/>
                </a:cubicBezTo>
                <a:cubicBezTo>
                  <a:pt x="18419" y="14353"/>
                  <a:pt x="18892" y="12552"/>
                  <a:pt x="18892" y="10687"/>
                </a:cubicBezTo>
                <a:cubicBezTo>
                  <a:pt x="18892" y="8819"/>
                  <a:pt x="18415" y="7014"/>
                  <a:pt x="17473" y="5277"/>
                </a:cubicBezTo>
                <a:cubicBezTo>
                  <a:pt x="17289" y="4932"/>
                  <a:pt x="17254" y="4567"/>
                  <a:pt x="17353" y="4181"/>
                </a:cubicBezTo>
                <a:cubicBezTo>
                  <a:pt x="17459" y="3802"/>
                  <a:pt x="17674" y="3514"/>
                  <a:pt x="18002" y="3322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</p:spPr>
        <p:txBody>
          <a:bodyPr lIns="14288" tIns="14288" rIns="14288" bIns="14288" anchor="ctr"/>
          <a:lstStyle/>
          <a:p>
            <a:pPr defTabSz="128270">
              <a:defRPr/>
            </a:pPr>
            <a:endParaRPr lang="es-ES" sz="825" kern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0" dur="250" fill="hold"/>
                                        <p:tgtEl>
                                          <p:spTgt spid="2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22" dur="250" fill="hold"/>
                                        <p:tgtEl>
                                          <p:spTgt spid="2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0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2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9" dur="250" fill="hold"/>
                                        <p:tgtEl>
                                          <p:spTgt spid="2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41" dur="250" fill="hold"/>
                                        <p:tgtEl>
                                          <p:spTgt spid="2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5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09550" y="98806"/>
            <a:ext cx="8368882" cy="539369"/>
            <a:chOff x="279400" y="131741"/>
            <a:chExt cx="11158509" cy="719159"/>
          </a:xfrm>
        </p:grpSpPr>
        <p:grpSp>
          <p:nvGrpSpPr>
            <p:cNvPr id="6" name="组合 5"/>
            <p:cNvGrpSpPr/>
            <p:nvPr/>
          </p:nvGrpSpPr>
          <p:grpSpPr>
            <a:xfrm>
              <a:off x="279400" y="165100"/>
              <a:ext cx="241300" cy="685800"/>
              <a:chOff x="279400" y="165100"/>
              <a:chExt cx="241300" cy="68580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79400" y="165100"/>
                <a:ext cx="101600" cy="6858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19100" y="165100"/>
                <a:ext cx="101600" cy="330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</p:grpSp>
        <p:sp>
          <p:nvSpPr>
            <p:cNvPr id="7" name="TextBox 54"/>
            <p:cNvSpPr txBox="1"/>
            <p:nvPr/>
          </p:nvSpPr>
          <p:spPr>
            <a:xfrm>
              <a:off x="694367" y="131741"/>
              <a:ext cx="50422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2100" dirty="0"/>
                <a:t>部位介绍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758853" y="836712"/>
              <a:ext cx="1067905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Rectangle 18"/>
          <p:cNvSpPr/>
          <p:nvPr/>
        </p:nvSpPr>
        <p:spPr>
          <a:xfrm>
            <a:off x="343935" y="3405866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0"/>
          <p:cNvSpPr/>
          <p:nvPr/>
        </p:nvSpPr>
        <p:spPr>
          <a:xfrm>
            <a:off x="5519992" y="3430938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extBox 8"/>
          <p:cNvSpPr txBox="1"/>
          <p:nvPr/>
        </p:nvSpPr>
        <p:spPr>
          <a:xfrm>
            <a:off x="520775" y="3590864"/>
            <a:ext cx="1597545" cy="7953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双工位放送是基本配置，可以在另一布卷工作时，提前把预备布卷放置在另一工位，换卷效率提高。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5782193" y="3777518"/>
            <a:ext cx="1385981" cy="1859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针密度：</a:t>
            </a:r>
            <a:r>
              <a:rPr lang="en-US" altLang="zh-CN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64</a:t>
            </a: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针</a:t>
            </a:r>
            <a:r>
              <a:rPr lang="en-US" altLang="zh-CN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/cm3</a:t>
            </a:r>
            <a:endParaRPr lang="zh-CN" altLang="en-US" sz="1100" dirty="0">
              <a:solidFill>
                <a:srgbClr val="FFFFFF">
                  <a:lumMod val="9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21966" y="2827369"/>
            <a:ext cx="3148598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双工位不停机上卷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Double Loading Station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503548" y="2839905"/>
            <a:ext cx="3148597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微孔打孔功能（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Nano Perforation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）</a:t>
            </a:r>
          </a:p>
        </p:txBody>
      </p:sp>
      <p:pic>
        <p:nvPicPr>
          <p:cNvPr id="27" name="图片 26" descr="图片包含 图示&#10;&#10;描述已自动生成">
            <a:extLst>
              <a:ext uri="{FF2B5EF4-FFF2-40B4-BE49-F238E27FC236}">
                <a16:creationId xmlns:a16="http://schemas.microsoft.com/office/drawing/2014/main" id="{EF6C9090-F49C-C1A2-7968-2F4D885DAE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5" b="8124"/>
          <a:stretch/>
        </p:blipFill>
        <p:spPr>
          <a:xfrm>
            <a:off x="224556" y="1154963"/>
            <a:ext cx="2302628" cy="1440158"/>
          </a:xfrm>
          <a:prstGeom prst="rect">
            <a:avLst/>
          </a:prstGeom>
        </p:spPr>
      </p:pic>
      <p:pic>
        <p:nvPicPr>
          <p:cNvPr id="33" name="图片 32" descr="图示, 工程绘图&#10;&#10;描述已自动生成">
            <a:extLst>
              <a:ext uri="{FF2B5EF4-FFF2-40B4-BE49-F238E27FC236}">
                <a16:creationId xmlns:a16="http://schemas.microsoft.com/office/drawing/2014/main" id="{82C550D6-315B-4083-9D0E-2D83183A09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403" y="1154963"/>
            <a:ext cx="2016429" cy="1440158"/>
          </a:xfrm>
          <a:prstGeom prst="rect">
            <a:avLst/>
          </a:prstGeom>
        </p:spPr>
      </p:pic>
      <p:pic>
        <p:nvPicPr>
          <p:cNvPr id="3" name="图片 2" descr="图示, 工程绘图&#10;&#10;描述已自动生成">
            <a:extLst>
              <a:ext uri="{FF2B5EF4-FFF2-40B4-BE49-F238E27FC236}">
                <a16:creationId xmlns:a16="http://schemas.microsoft.com/office/drawing/2014/main" id="{13972F38-5637-7B79-DDAE-062C5E6D77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932" y="1180034"/>
            <a:ext cx="1965125" cy="13900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25"/>
                            </p:stCondLst>
                            <p:childTnLst>
                              <p:par>
                                <p:cTn id="3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/>
      <p:bldP spid="16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09550" y="123825"/>
            <a:ext cx="8368882" cy="514350"/>
            <a:chOff x="279400" y="165100"/>
            <a:chExt cx="11158509" cy="685800"/>
          </a:xfrm>
        </p:grpSpPr>
        <p:grpSp>
          <p:nvGrpSpPr>
            <p:cNvPr id="6" name="组合 5"/>
            <p:cNvGrpSpPr/>
            <p:nvPr/>
          </p:nvGrpSpPr>
          <p:grpSpPr>
            <a:xfrm>
              <a:off x="279400" y="165100"/>
              <a:ext cx="241300" cy="685800"/>
              <a:chOff x="279400" y="165100"/>
              <a:chExt cx="241300" cy="68580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79400" y="165100"/>
                <a:ext cx="101600" cy="6858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19100" y="165100"/>
                <a:ext cx="101600" cy="330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</p:grpSp>
        <p:sp>
          <p:nvSpPr>
            <p:cNvPr id="7" name="TextBox 54"/>
            <p:cNvSpPr txBox="1"/>
            <p:nvPr/>
          </p:nvSpPr>
          <p:spPr>
            <a:xfrm>
              <a:off x="458580" y="189217"/>
              <a:ext cx="50422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2100" dirty="0"/>
                <a:t>部位介绍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758853" y="836712"/>
              <a:ext cx="1067905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Rectangle 18"/>
          <p:cNvSpPr/>
          <p:nvPr/>
        </p:nvSpPr>
        <p:spPr>
          <a:xfrm>
            <a:off x="1678812" y="3351220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0"/>
          <p:cNvSpPr/>
          <p:nvPr/>
        </p:nvSpPr>
        <p:spPr>
          <a:xfrm>
            <a:off x="7309942" y="3999442"/>
            <a:ext cx="1720645" cy="103304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r>
              <a:rPr lang="zh-CN" altLang="en-US" sz="1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真空吸开</a:t>
            </a:r>
            <a:endParaRPr lang="en-US" altLang="zh-CN" sz="14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defTabSz="914400">
              <a:defRPr/>
            </a:pPr>
            <a:r>
              <a:rPr lang="en-US" sz="1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Vacuum Pump</a:t>
            </a:r>
          </a:p>
        </p:txBody>
      </p:sp>
      <p:sp>
        <p:nvSpPr>
          <p:cNvPr id="14" name="TextBox 8"/>
          <p:cNvSpPr txBox="1"/>
          <p:nvPr/>
        </p:nvSpPr>
        <p:spPr>
          <a:xfrm>
            <a:off x="1860859" y="3771315"/>
            <a:ext cx="1597545" cy="1859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伺服</a:t>
            </a:r>
            <a:r>
              <a:rPr lang="en-US" altLang="zh-CN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Servo Driven</a:t>
            </a:r>
            <a:endParaRPr lang="zh-CN" altLang="en-US" sz="1100" dirty="0">
              <a:solidFill>
                <a:srgbClr val="FFFFFF">
                  <a:lumMod val="9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5782193" y="3777518"/>
            <a:ext cx="1385981" cy="1859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针密度：</a:t>
            </a:r>
            <a:r>
              <a:rPr lang="en-US" altLang="zh-CN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64</a:t>
            </a: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针</a:t>
            </a:r>
            <a:r>
              <a:rPr lang="en-US" altLang="zh-CN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/cm3</a:t>
            </a:r>
            <a:endParaRPr lang="zh-CN" altLang="en-US" sz="1100" dirty="0">
              <a:solidFill>
                <a:srgbClr val="FFFFFF">
                  <a:lumMod val="9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423402" y="2522050"/>
            <a:ext cx="3148598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切断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&amp;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转向</a:t>
            </a:r>
            <a:r>
              <a:rPr lang="en-US" altLang="zh-CN" sz="1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Cutting&amp;Gripper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Convey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720598" y="1933427"/>
            <a:ext cx="1422116" cy="90024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吸盘打开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Sucker Open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DC4A272-BEFA-1FDE-9408-8537C7518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6" y="720513"/>
            <a:ext cx="2263442" cy="15956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A2A6F94-CDA6-68DD-EBA2-A1E65B048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664" y="741265"/>
            <a:ext cx="2319391" cy="16383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86A5C68-7E96-AEC6-536F-AAD1BF0579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07" y="699143"/>
            <a:ext cx="2319391" cy="332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1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75"/>
                            </p:stCondLst>
                            <p:childTnLst>
                              <p:par>
                                <p:cTn id="3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/>
      <p:bldP spid="16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09550" y="123825"/>
            <a:ext cx="8368882" cy="514350"/>
            <a:chOff x="279400" y="165100"/>
            <a:chExt cx="11158509" cy="685800"/>
          </a:xfrm>
        </p:grpSpPr>
        <p:grpSp>
          <p:nvGrpSpPr>
            <p:cNvPr id="6" name="组合 5"/>
            <p:cNvGrpSpPr/>
            <p:nvPr/>
          </p:nvGrpSpPr>
          <p:grpSpPr>
            <a:xfrm>
              <a:off x="279400" y="165100"/>
              <a:ext cx="241300" cy="685800"/>
              <a:chOff x="279400" y="165100"/>
              <a:chExt cx="241300" cy="68580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79400" y="165100"/>
                <a:ext cx="101600" cy="6858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19100" y="165100"/>
                <a:ext cx="101600" cy="330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</p:grpSp>
        <p:sp>
          <p:nvSpPr>
            <p:cNvPr id="7" name="TextBox 54"/>
            <p:cNvSpPr txBox="1"/>
            <p:nvPr/>
          </p:nvSpPr>
          <p:spPr>
            <a:xfrm>
              <a:off x="458580" y="189217"/>
              <a:ext cx="50422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2100" dirty="0"/>
                <a:t>部位介绍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758853" y="836712"/>
              <a:ext cx="1067905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Rectangle 18"/>
          <p:cNvSpPr/>
          <p:nvPr/>
        </p:nvSpPr>
        <p:spPr>
          <a:xfrm>
            <a:off x="1678812" y="3351220"/>
            <a:ext cx="1961641" cy="121208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27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0"/>
          <p:cNvSpPr/>
          <p:nvPr/>
        </p:nvSpPr>
        <p:spPr>
          <a:xfrm>
            <a:off x="7309942" y="3999442"/>
            <a:ext cx="1720645" cy="1033047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>
            <a:outerShdw blurRad="381000" dist="101600" dir="2700000" algn="ctr" rotWithShape="0">
              <a:srgbClr val="000000">
                <a:alpha val="30000"/>
              </a:srgbClr>
            </a:outerShdw>
          </a:effectLst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endParaRPr lang="en-US" sz="14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extBox 8"/>
          <p:cNvSpPr txBox="1"/>
          <p:nvPr/>
        </p:nvSpPr>
        <p:spPr>
          <a:xfrm>
            <a:off x="1860859" y="3771315"/>
            <a:ext cx="1597545" cy="1859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袋底四角成为三角形状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5782193" y="3777518"/>
            <a:ext cx="1385981" cy="1859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针密度：</a:t>
            </a:r>
            <a:r>
              <a:rPr lang="en-US" altLang="zh-CN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64</a:t>
            </a:r>
            <a:r>
              <a:rPr lang="zh-CN" altLang="en-US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针</a:t>
            </a:r>
            <a:r>
              <a:rPr lang="en-US" altLang="zh-CN" sz="1100" dirty="0">
                <a:solidFill>
                  <a:srgbClr val="FFFFFF">
                    <a:lumMod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/cm3</a:t>
            </a:r>
            <a:endParaRPr lang="zh-CN" altLang="en-US" sz="1100" dirty="0">
              <a:solidFill>
                <a:srgbClr val="FFFFFF">
                  <a:lumMod val="9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09550" y="3351220"/>
            <a:ext cx="3148598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仰角撑开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defTabSz="457200"/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Spreader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367259" y="3507140"/>
            <a:ext cx="1422116" cy="34624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阀口成型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496B06-96F6-A394-FA33-623111D31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83" y="632618"/>
            <a:ext cx="3598984" cy="254213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57FFE8C-CBE5-321A-DE9F-2082CFD3CD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439" y="657640"/>
            <a:ext cx="2594269" cy="212100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97DE161-C22A-22C6-3CCC-08CE507B82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372" y="632618"/>
            <a:ext cx="1989628" cy="140537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9951482B-A3D9-59E9-31F5-6654ED0D21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764" y="1782888"/>
            <a:ext cx="1662596" cy="208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33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25"/>
                            </p:stCondLst>
                            <p:childTnLst>
                              <p:par>
                                <p:cTn id="3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/>
      <p:bldP spid="16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09550" y="123825"/>
            <a:ext cx="8368882" cy="514350"/>
            <a:chOff x="279400" y="165100"/>
            <a:chExt cx="11158509" cy="685800"/>
          </a:xfrm>
        </p:grpSpPr>
        <p:grpSp>
          <p:nvGrpSpPr>
            <p:cNvPr id="6" name="组合 5"/>
            <p:cNvGrpSpPr/>
            <p:nvPr/>
          </p:nvGrpSpPr>
          <p:grpSpPr>
            <a:xfrm>
              <a:off x="279400" y="165100"/>
              <a:ext cx="241300" cy="685800"/>
              <a:chOff x="279400" y="165100"/>
              <a:chExt cx="241300" cy="68580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79400" y="165100"/>
                <a:ext cx="101600" cy="6858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19100" y="165100"/>
                <a:ext cx="101600" cy="330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/>
              </a:p>
            </p:txBody>
          </p:sp>
        </p:grpSp>
        <p:sp>
          <p:nvSpPr>
            <p:cNvPr id="7" name="TextBox 54"/>
            <p:cNvSpPr txBox="1"/>
            <p:nvPr/>
          </p:nvSpPr>
          <p:spPr>
            <a:xfrm>
              <a:off x="458580" y="189217"/>
              <a:ext cx="50422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2100" dirty="0"/>
                <a:t>部位介绍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758853" y="836712"/>
              <a:ext cx="1067905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" name="矩形 21"/>
          <p:cNvSpPr/>
          <p:nvPr/>
        </p:nvSpPr>
        <p:spPr>
          <a:xfrm>
            <a:off x="851829" y="3340218"/>
            <a:ext cx="3148598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袋底闭合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defTabSz="457200"/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Bag End Close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921256" y="3478717"/>
            <a:ext cx="1422116" cy="11772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defTabSz="457200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贴底贴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defTabSz="457200"/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Bottom Patch Cover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57FFE8C-CBE5-321A-DE9F-2082CFD3CD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556" y="666138"/>
            <a:ext cx="2594269" cy="2121001"/>
          </a:xfrm>
          <a:prstGeom prst="rect">
            <a:avLst/>
          </a:prstGeom>
        </p:spPr>
      </p:pic>
      <p:pic>
        <p:nvPicPr>
          <p:cNvPr id="12" name="图片 11" descr="图片包含 室内, 武器, 设备, 大&#10;&#10;描述已自动生成">
            <a:extLst>
              <a:ext uri="{FF2B5EF4-FFF2-40B4-BE49-F238E27FC236}">
                <a16:creationId xmlns:a16="http://schemas.microsoft.com/office/drawing/2014/main" id="{C98A1601-918A-5DA5-0765-4FF70E563E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06" y="611234"/>
            <a:ext cx="3047733" cy="2491740"/>
          </a:xfrm>
          <a:prstGeom prst="rect">
            <a:avLst/>
          </a:prstGeom>
        </p:spPr>
      </p:pic>
      <p:pic>
        <p:nvPicPr>
          <p:cNvPr id="15" name="图片 14" descr="图示, 工程绘图&#10;&#10;描述已自动生成">
            <a:extLst>
              <a:ext uri="{FF2B5EF4-FFF2-40B4-BE49-F238E27FC236}">
                <a16:creationId xmlns:a16="http://schemas.microsoft.com/office/drawing/2014/main" id="{2AAFDC2B-5342-AB6A-73C9-ECB7BA20066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20" t="19762" r="12940" b="17687"/>
          <a:stretch/>
        </p:blipFill>
        <p:spPr>
          <a:xfrm>
            <a:off x="6698512" y="611234"/>
            <a:ext cx="2445488" cy="2121002"/>
          </a:xfrm>
          <a:prstGeom prst="rect">
            <a:avLst/>
          </a:prstGeom>
        </p:spPr>
      </p:pic>
      <p:pic>
        <p:nvPicPr>
          <p:cNvPr id="19" name="图片 18" descr="图示&#10;&#10;描述已自动生成">
            <a:extLst>
              <a:ext uri="{FF2B5EF4-FFF2-40B4-BE49-F238E27FC236}">
                <a16:creationId xmlns:a16="http://schemas.microsoft.com/office/drawing/2014/main" id="{F4479626-F24E-0AA5-43F2-9260F6C003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400" y="2763268"/>
            <a:ext cx="1545820" cy="221444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0308546-1C62-7C4B-24C2-5898B9BE8E2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214" y="2802358"/>
            <a:ext cx="1662596" cy="208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>
            <a:extLst>
              <a:ext uri="{FF2B5EF4-FFF2-40B4-BE49-F238E27FC236}">
                <a16:creationId xmlns:a16="http://schemas.microsoft.com/office/drawing/2014/main" id="{12E0ACEA-6F18-4BD1-AE2E-72E0DECEC7C3}"/>
              </a:ext>
            </a:extLst>
          </p:cNvPr>
          <p:cNvSpPr/>
          <p:nvPr/>
        </p:nvSpPr>
        <p:spPr>
          <a:xfrm>
            <a:off x="322383" y="213551"/>
            <a:ext cx="686354" cy="68635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32900" y="1500056"/>
            <a:ext cx="7497250" cy="387690"/>
            <a:chOff x="951067" y="984074"/>
            <a:chExt cx="9146865" cy="516920"/>
          </a:xfrm>
        </p:grpSpPr>
        <p:sp>
          <p:nvSpPr>
            <p:cNvPr id="7" name="文本框 7"/>
            <p:cNvSpPr txBox="1">
              <a:spLocks/>
            </p:cNvSpPr>
            <p:nvPr/>
          </p:nvSpPr>
          <p:spPr>
            <a:xfrm>
              <a:off x="951067" y="984074"/>
              <a:ext cx="2936027" cy="51692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</p:spPr>
          <p:txBody>
            <a:bodyPr wrap="none" anchor="ctr">
              <a:normAutofit/>
            </a:bodyPr>
            <a:lstStyle/>
            <a:p>
              <a:pPr algn="ctr"/>
              <a:endParaRPr lang="zh-CN" altLang="en-US" sz="105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8" name="文本框 8"/>
            <p:cNvSpPr txBox="1">
              <a:spLocks/>
            </p:cNvSpPr>
            <p:nvPr/>
          </p:nvSpPr>
          <p:spPr>
            <a:xfrm>
              <a:off x="4056486" y="984074"/>
              <a:ext cx="2936027" cy="51692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</p:spPr>
          <p:txBody>
            <a:bodyPr wrap="none" anchor="ctr">
              <a:normAutofit/>
            </a:bodyPr>
            <a:lstStyle/>
            <a:p>
              <a:pPr algn="ctr"/>
              <a:endParaRPr lang="zh-CN" altLang="en-US" sz="105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9" name="文本框 9"/>
            <p:cNvSpPr txBox="1">
              <a:spLocks/>
            </p:cNvSpPr>
            <p:nvPr/>
          </p:nvSpPr>
          <p:spPr>
            <a:xfrm>
              <a:off x="7161905" y="984074"/>
              <a:ext cx="2936027" cy="51692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</p:spPr>
          <p:txBody>
            <a:bodyPr wrap="none" anchor="ctr">
              <a:normAutofit/>
            </a:bodyPr>
            <a:lstStyle/>
            <a:p>
              <a:pPr algn="ctr"/>
              <a:endParaRPr lang="zh-CN" altLang="en-US" sz="105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125835" y="1545351"/>
            <a:ext cx="1876463" cy="32053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5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青岛</a:t>
            </a:r>
            <a:r>
              <a:rPr lang="zh-CN" altLang="en-US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利国兴</a:t>
            </a:r>
            <a:endParaRPr lang="zh-CN" altLang="en-US" sz="135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43293" y="1545351"/>
            <a:ext cx="1876463" cy="32053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5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奥地利史太林格</a:t>
            </a:r>
          </a:p>
        </p:txBody>
      </p:sp>
      <p:sp>
        <p:nvSpPr>
          <p:cNvPr id="14" name="矩形 13"/>
          <p:cNvSpPr/>
          <p:nvPr/>
        </p:nvSpPr>
        <p:spPr>
          <a:xfrm>
            <a:off x="6188657" y="1545351"/>
            <a:ext cx="1876463" cy="320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5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温州华造</a:t>
            </a:r>
          </a:p>
        </p:txBody>
      </p:sp>
      <p:sp>
        <p:nvSpPr>
          <p:cNvPr id="21" name="矩形 20"/>
          <p:cNvSpPr/>
          <p:nvPr/>
        </p:nvSpPr>
        <p:spPr>
          <a:xfrm>
            <a:off x="1172676" y="250906"/>
            <a:ext cx="2563458" cy="49795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68580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rPr>
              <a:t>竞争对手</a:t>
            </a:r>
          </a:p>
        </p:txBody>
      </p:sp>
      <p:pic>
        <p:nvPicPr>
          <p:cNvPr id="5" name="图片 4" descr="卡通画&#10;&#10;描述已自动生成">
            <a:extLst>
              <a:ext uri="{FF2B5EF4-FFF2-40B4-BE49-F238E27FC236}">
                <a16:creationId xmlns:a16="http://schemas.microsoft.com/office/drawing/2014/main" id="{15E0FE10-02A0-4EE9-80C2-AC89B01166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924" y="2496165"/>
            <a:ext cx="1565830" cy="42100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B1E50E1-7323-47D3-633E-28D8AD64C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35" y="2320906"/>
            <a:ext cx="19716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4216367"/>
      </p:ext>
    </p:extLst>
  </p:cSld>
  <p:clrMapOvr>
    <a:masterClrMapping/>
  </p:clrMapOvr>
  <p:transition spd="slow" advTm="4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2  _1"/>
          <p:cNvSpPr>
            <a:spLocks noChangeArrowheads="1"/>
          </p:cNvSpPr>
          <p:nvPr/>
        </p:nvSpPr>
        <p:spPr bwMode="auto">
          <a:xfrm>
            <a:off x="71466" y="1116227"/>
            <a:ext cx="8077200" cy="3330993"/>
          </a:xfrm>
          <a:prstGeom prst="roundRect">
            <a:avLst>
              <a:gd name="adj" fmla="val 8963"/>
            </a:avLst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>
            <a:outerShdw blurRad="165100" dist="38100" dir="8100000" algn="tr" rotWithShape="0">
              <a:prstClr val="black">
                <a:alpha val="22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rtlCol="0" anchor="ctr"/>
          <a:lstStyle/>
          <a:p>
            <a:pPr algn="ctr">
              <a:defRPr/>
            </a:pPr>
            <a:endParaRPr lang="zh-CN" altLang="zh-CN" sz="1350" kern="0">
              <a:solidFill>
                <a:prstClr val="white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10050" y="516349"/>
            <a:ext cx="4048125" cy="440807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文本框 6"/>
          <p:cNvSpPr txBox="1"/>
          <p:nvPr/>
        </p:nvSpPr>
        <p:spPr>
          <a:xfrm>
            <a:off x="114856" y="1571607"/>
            <a:ext cx="402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85825" y="2286352"/>
            <a:ext cx="3603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青岛利国兴精密机械有限公司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79722" y="2803067"/>
            <a:ext cx="3723316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1354202" y="3305742"/>
            <a:ext cx="2511216" cy="800852"/>
            <a:chOff x="239201" y="3376995"/>
            <a:chExt cx="1368664" cy="525442"/>
          </a:xfrm>
        </p:grpSpPr>
        <p:sp>
          <p:nvSpPr>
            <p:cNvPr id="17" name="任意多边形: 形状 18"/>
            <p:cNvSpPr/>
            <p:nvPr/>
          </p:nvSpPr>
          <p:spPr>
            <a:xfrm flipH="1">
              <a:off x="239201" y="3376995"/>
              <a:ext cx="1368664" cy="319401"/>
            </a:xfrm>
            <a:custGeom>
              <a:avLst/>
              <a:gdLst>
                <a:gd name="connsiteX0" fmla="*/ 6634061 w 7434501"/>
                <a:gd name="connsiteY0" fmla="*/ 0 h 1734967"/>
                <a:gd name="connsiteX1" fmla="*/ 1052630 w 7434501"/>
                <a:gd name="connsiteY1" fmla="*/ 0 h 1734967"/>
                <a:gd name="connsiteX2" fmla="*/ 1052630 w 7434501"/>
                <a:gd name="connsiteY2" fmla="*/ 1630 h 1734967"/>
                <a:gd name="connsiteX3" fmla="*/ 800440 w 7434501"/>
                <a:gd name="connsiteY3" fmla="*/ 1630 h 1734967"/>
                <a:gd name="connsiteX4" fmla="*/ 800440 w 7434501"/>
                <a:gd name="connsiteY4" fmla="*/ 6112 h 1734967"/>
                <a:gd name="connsiteX5" fmla="*/ 777533 w 7434501"/>
                <a:gd name="connsiteY5" fmla="*/ 7269 h 1734967"/>
                <a:gd name="connsiteX6" fmla="*/ 0 w 7434501"/>
                <a:gd name="connsiteY6" fmla="*/ 868882 h 1734967"/>
                <a:gd name="connsiteX7" fmla="*/ 777533 w 7434501"/>
                <a:gd name="connsiteY7" fmla="*/ 1730496 h 1734967"/>
                <a:gd name="connsiteX8" fmla="*/ 800440 w 7434501"/>
                <a:gd name="connsiteY8" fmla="*/ 1731652 h 1734967"/>
                <a:gd name="connsiteX9" fmla="*/ 800440 w 7434501"/>
                <a:gd name="connsiteY9" fmla="*/ 1733799 h 1734967"/>
                <a:gd name="connsiteX10" fmla="*/ 842954 w 7434501"/>
                <a:gd name="connsiteY10" fmla="*/ 1733799 h 1734967"/>
                <a:gd name="connsiteX11" fmla="*/ 866085 w 7434501"/>
                <a:gd name="connsiteY11" fmla="*/ 1734967 h 1734967"/>
                <a:gd name="connsiteX12" fmla="*/ 889216 w 7434501"/>
                <a:gd name="connsiteY12" fmla="*/ 1733799 h 1734967"/>
                <a:gd name="connsiteX13" fmla="*/ 6381871 w 7434501"/>
                <a:gd name="connsiteY13" fmla="*/ 1733799 h 1734967"/>
                <a:gd name="connsiteX14" fmla="*/ 6381871 w 7434501"/>
                <a:gd name="connsiteY14" fmla="*/ 1732169 h 1734967"/>
                <a:gd name="connsiteX15" fmla="*/ 6545285 w 7434501"/>
                <a:gd name="connsiteY15" fmla="*/ 1732169 h 1734967"/>
                <a:gd name="connsiteX16" fmla="*/ 6568416 w 7434501"/>
                <a:gd name="connsiteY16" fmla="*/ 1733337 h 1734967"/>
                <a:gd name="connsiteX17" fmla="*/ 6591547 w 7434501"/>
                <a:gd name="connsiteY17" fmla="*/ 1732169 h 1734967"/>
                <a:gd name="connsiteX18" fmla="*/ 6634061 w 7434501"/>
                <a:gd name="connsiteY18" fmla="*/ 1732169 h 1734967"/>
                <a:gd name="connsiteX19" fmla="*/ 6634061 w 7434501"/>
                <a:gd name="connsiteY19" fmla="*/ 1730022 h 1734967"/>
                <a:gd name="connsiteX20" fmla="*/ 6656968 w 7434501"/>
                <a:gd name="connsiteY20" fmla="*/ 1728866 h 1734967"/>
                <a:gd name="connsiteX21" fmla="*/ 7434501 w 7434501"/>
                <a:gd name="connsiteY21" fmla="*/ 867252 h 1734967"/>
                <a:gd name="connsiteX22" fmla="*/ 6656968 w 7434501"/>
                <a:gd name="connsiteY22" fmla="*/ 5639 h 1734967"/>
                <a:gd name="connsiteX23" fmla="*/ 6634061 w 7434501"/>
                <a:gd name="connsiteY23" fmla="*/ 4482 h 1734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34501" h="1734967">
                  <a:moveTo>
                    <a:pt x="6634061" y="0"/>
                  </a:moveTo>
                  <a:lnTo>
                    <a:pt x="1052630" y="0"/>
                  </a:lnTo>
                  <a:lnTo>
                    <a:pt x="1052630" y="1630"/>
                  </a:lnTo>
                  <a:lnTo>
                    <a:pt x="800440" y="1630"/>
                  </a:lnTo>
                  <a:lnTo>
                    <a:pt x="800440" y="6112"/>
                  </a:lnTo>
                  <a:lnTo>
                    <a:pt x="777533" y="7269"/>
                  </a:lnTo>
                  <a:cubicBezTo>
                    <a:pt x="340804" y="51621"/>
                    <a:pt x="0" y="420451"/>
                    <a:pt x="0" y="868882"/>
                  </a:cubicBezTo>
                  <a:cubicBezTo>
                    <a:pt x="0" y="1317313"/>
                    <a:pt x="340804" y="1686143"/>
                    <a:pt x="777533" y="1730496"/>
                  </a:cubicBezTo>
                  <a:lnTo>
                    <a:pt x="800440" y="1731652"/>
                  </a:lnTo>
                  <a:lnTo>
                    <a:pt x="800440" y="1733799"/>
                  </a:lnTo>
                  <a:lnTo>
                    <a:pt x="842954" y="1733799"/>
                  </a:lnTo>
                  <a:lnTo>
                    <a:pt x="866085" y="1734967"/>
                  </a:lnTo>
                  <a:lnTo>
                    <a:pt x="889216" y="1733799"/>
                  </a:lnTo>
                  <a:lnTo>
                    <a:pt x="6381871" y="1733799"/>
                  </a:lnTo>
                  <a:lnTo>
                    <a:pt x="6381871" y="1732169"/>
                  </a:lnTo>
                  <a:lnTo>
                    <a:pt x="6545285" y="1732169"/>
                  </a:lnTo>
                  <a:lnTo>
                    <a:pt x="6568416" y="1733337"/>
                  </a:lnTo>
                  <a:lnTo>
                    <a:pt x="6591547" y="1732169"/>
                  </a:lnTo>
                  <a:lnTo>
                    <a:pt x="6634061" y="1732169"/>
                  </a:lnTo>
                  <a:lnTo>
                    <a:pt x="6634061" y="1730022"/>
                  </a:lnTo>
                  <a:lnTo>
                    <a:pt x="6656968" y="1728866"/>
                  </a:lnTo>
                  <a:cubicBezTo>
                    <a:pt x="7093697" y="1684513"/>
                    <a:pt x="7434501" y="1315683"/>
                    <a:pt x="7434501" y="867252"/>
                  </a:cubicBezTo>
                  <a:cubicBezTo>
                    <a:pt x="7434501" y="418821"/>
                    <a:pt x="7093697" y="49991"/>
                    <a:pt x="6656968" y="5639"/>
                  </a:cubicBezTo>
                  <a:lnTo>
                    <a:pt x="6634061" y="4482"/>
                  </a:lnTo>
                  <a:close/>
                </a:path>
              </a:pathLst>
            </a:custGeom>
            <a:solidFill>
              <a:srgbClr val="C0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81249" y="3440772"/>
              <a:ext cx="12845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销售部：彭占强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18266627772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4858718" y="821410"/>
            <a:ext cx="3975316" cy="379708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36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50"/>
                            </p:stCondLst>
                            <p:childTnLst>
                              <p:par>
                                <p:cTn id="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7" grpId="0"/>
      <p:bldP spid="8" grpId="0"/>
      <p:bldP spid="2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8662"/>
  <p:tag name="AS_OS" val="Microsoft Windows NT 6.2.9200.0"/>
  <p:tag name="AS_RELEASE_DATE" val="2018.07.12"/>
  <p:tag name="AS_TITLE" val="Aspose.Slides for .NET 2.0"/>
  <p:tag name="AS_VERSION" val="18.7"/>
  <p:tag name="ISPRING_FIRST_PUBLISH" val="1"/>
  <p:tag name="ISPRING_OUTPUT_FOLDER" val="F:\01 PPT原创设计\B587 公司简介PPT"/>
  <p:tag name="ISPRING_PRESENTATION_TITLE" val="B587 公司简介PPT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PASSING_SCORE" val="0.000000"/>
  <p:tag name="ISPRING_SCORM_RATE_QUIZZES" val="0"/>
  <p:tag name="ISPRING_SCORM_RATE_SLIDES" val="0"/>
  <p:tag name="ISPRING_ULTRA_SCORM_COURSE_ID" val="8511EDD0-91C5-4897-B333-04E40A2F3627"/>
  <p:tag name="ISPRINGCLOUDFOLDERID" val="0"/>
  <p:tag name="ISPRINGCLOUDFOLDERPATH" val="Repository"/>
  <p:tag name="ISPRINGONLINEFOLDERID" val="0"/>
  <p:tag name="ISPRINGONLINEFOLDERPATH" val="Content Lis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ORDER" val="1"/>
  <p:tag name="MH_TYPE" val="Sub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7203636"/>
  <p:tag name="MH_LIBRARY" val="GRAPHIC"/>
  <p:tag name="MH_ORDER" val="3"/>
  <p:tag name="MH_TYPE" val="Picture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602</TotalTime>
  <Words>877</Words>
  <Application>Microsoft Office PowerPoint</Application>
  <PresentationFormat>全屏显示(16:9)</PresentationFormat>
  <Paragraphs>167</Paragraphs>
  <Slides>17</Slides>
  <Notes>16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Gill Sans</vt:lpstr>
      <vt:lpstr>等线</vt:lpstr>
      <vt:lpstr>思源黑体</vt:lpstr>
      <vt:lpstr>宋体</vt:lpstr>
      <vt:lpstr>微软雅黑</vt:lpstr>
      <vt:lpstr>Arial</vt:lpstr>
      <vt:lpstr>Calibri</vt:lpstr>
      <vt:lpstr>Calibri Light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方底阀口包装袋示意图</vt:lpstr>
      <vt:lpstr>包装袋示意图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一块办公</Manager>
  <Company>开心盒子软件有限公司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一块办公PPT模板</dc:title>
  <dc:subject>一块办公PPT模板</dc:subject>
  <dc:creator>一块办公</dc:creator>
  <cp:keywords>一块办公</cp:keywords>
  <dc:description>一块办公 https://www.ykbg.com</dc:description>
  <cp:lastModifiedBy>岳 奇超</cp:lastModifiedBy>
  <cp:revision>165</cp:revision>
  <dcterms:created xsi:type="dcterms:W3CDTF">2018-10-02T01:38:00Z</dcterms:created>
  <dcterms:modified xsi:type="dcterms:W3CDTF">2026-02-10T07:15:35Z</dcterms:modified>
  <cp:category>演示文稿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D80EC5B800694AFABE377443C92564C0</vt:lpwstr>
  </property>
  <property fmtid="{D5CDD505-2E9C-101B-9397-08002B2CF9AE}" pid="3" name="KSOProductBuildVer">
    <vt:lpwstr>2052-11.1.0.10938</vt:lpwstr>
  </property>
</Properties>
</file>